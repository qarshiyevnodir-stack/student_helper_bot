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4" r:id="rId3"/>
    <p:sldId id="257" r:id="rId4"/>
    <p:sldId id="259" r:id="rId5"/>
    <p:sldId id="260" r:id="rId6"/>
    <p:sldId id="261" r:id="rId7"/>
    <p:sldId id="263" r:id="rId8"/>
    <p:sldId id="266" r:id="rId9"/>
  </p:sldIdLst>
  <p:sldSz cx="18288000" cy="10287000"/>
  <p:notesSz cx="6858000" cy="9144000"/>
  <p:embeddedFontLst>
    <p:embeddedFont>
      <p:font typeface="Bebas Neue Bold" panose="020B0604020202020204" charset="-52"/>
      <p:regular r:id="rId10"/>
    </p:embeddedFont>
    <p:embeddedFont>
      <p:font typeface="Poppins" panose="00000500000000000000" pitchFamily="2" charset="0"/>
      <p:regular r:id="rId11"/>
    </p:embeddedFont>
    <p:embeddedFont>
      <p:font typeface="Poppins Medium" panose="00000600000000000000" pitchFamily="2" charset="0"/>
      <p:regular r:id="rId12"/>
      <p:italic r:id="rId13"/>
    </p:embeddedFont>
    <p:embeddedFont>
      <p:font typeface="Poppins Semi-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49" autoAdjust="0"/>
    <p:restoredTop sz="94622" autoAdjust="0"/>
  </p:normalViewPr>
  <p:slideViewPr>
    <p:cSldViewPr>
      <p:cViewPr>
        <p:scale>
          <a:sx n="31" d="100"/>
          <a:sy n="31" d="100"/>
        </p:scale>
        <p:origin x="664" y="5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13" b="-9313"/>
            </a:stretch>
          </a:blipFill>
        </p:spPr>
        <p:txBody>
          <a:bodyPr/>
          <a:lstStyle/>
          <a:p>
            <a:endParaRPr lang="ru-RU"/>
          </a:p>
        </p:txBody>
      </p:sp>
      <p:sp>
        <p:nvSpPr>
          <p:cNvPr id="17" name="Freeform 17"/>
          <p:cNvSpPr/>
          <p:nvPr/>
        </p:nvSpPr>
        <p:spPr>
          <a:xfrm>
            <a:off x="15182831" y="-2802285"/>
            <a:ext cx="4838737" cy="6382027"/>
          </a:xfrm>
          <a:custGeom>
            <a:avLst/>
            <a:gdLst/>
            <a:ahLst/>
            <a:cxnLst/>
            <a:rect l="l" t="t" r="r" b="b"/>
            <a:pathLst>
              <a:path w="4838737" h="6382027">
                <a:moveTo>
                  <a:pt x="0" y="0"/>
                </a:moveTo>
                <a:lnTo>
                  <a:pt x="4838738" y="0"/>
                </a:lnTo>
                <a:lnTo>
                  <a:pt x="4838738" y="6382028"/>
                </a:lnTo>
                <a:lnTo>
                  <a:pt x="0" y="638202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ru-RU"/>
          </a:p>
        </p:txBody>
      </p:sp>
      <p:sp>
        <p:nvSpPr>
          <p:cNvPr id="6" name="Freeform 3"/>
          <p:cNvSpPr/>
          <p:nvPr/>
        </p:nvSpPr>
        <p:spPr>
          <a:xfrm>
            <a:off x="-309098" y="5793450"/>
            <a:ext cx="19463815" cy="6436650"/>
          </a:xfrm>
          <a:custGeom>
            <a:avLst/>
            <a:gdLst/>
            <a:ahLst/>
            <a:cxnLst/>
            <a:rect l="l" t="t" r="r" b="b"/>
            <a:pathLst>
              <a:path w="19463815" h="6436650">
                <a:moveTo>
                  <a:pt x="0" y="0"/>
                </a:moveTo>
                <a:lnTo>
                  <a:pt x="19463815" y="0"/>
                </a:lnTo>
                <a:lnTo>
                  <a:pt x="19463815" y="6436650"/>
                </a:lnTo>
                <a:lnTo>
                  <a:pt x="0" y="643665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11" name="Freeform 11"/>
          <p:cNvSpPr>
            <a:spLocks/>
          </p:cNvSpPr>
          <p:nvPr/>
        </p:nvSpPr>
        <p:spPr>
          <a:xfrm>
            <a:off x="13868400" y="-1695727"/>
            <a:ext cx="4838737" cy="6382027"/>
          </a:xfrm>
          <a:custGeom>
            <a:avLst/>
            <a:gdLst/>
            <a:ahLst/>
            <a:cxnLst/>
            <a:rect l="l" t="t" r="r" b="b"/>
            <a:pathLst>
              <a:path w="4838737" h="6382027">
                <a:moveTo>
                  <a:pt x="0" y="0"/>
                </a:moveTo>
                <a:lnTo>
                  <a:pt x="4838737" y="0"/>
                </a:lnTo>
                <a:lnTo>
                  <a:pt x="4838737" y="6382027"/>
                </a:lnTo>
                <a:lnTo>
                  <a:pt x="0" y="638202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12" name="Freeform 12"/>
          <p:cNvSpPr/>
          <p:nvPr/>
        </p:nvSpPr>
        <p:spPr>
          <a:xfrm>
            <a:off x="9144000" y="-2980705"/>
            <a:ext cx="4519832" cy="5961409"/>
          </a:xfrm>
          <a:custGeom>
            <a:avLst/>
            <a:gdLst/>
            <a:ahLst/>
            <a:cxnLst/>
            <a:rect l="l" t="t" r="r" b="b"/>
            <a:pathLst>
              <a:path w="4519832" h="5961409">
                <a:moveTo>
                  <a:pt x="0" y="0"/>
                </a:moveTo>
                <a:lnTo>
                  <a:pt x="4519832" y="0"/>
                </a:lnTo>
                <a:lnTo>
                  <a:pt x="4519832" y="5961410"/>
                </a:lnTo>
                <a:lnTo>
                  <a:pt x="0" y="596141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Freeform 3"/>
          <p:cNvSpPr/>
          <p:nvPr/>
        </p:nvSpPr>
        <p:spPr>
          <a:xfrm flipH="1">
            <a:off x="7613519" y="-348916"/>
            <a:ext cx="11036540" cy="10635916"/>
          </a:xfrm>
          <a:custGeom>
            <a:avLst/>
            <a:gdLst/>
            <a:ahLst/>
            <a:cxnLst/>
            <a:rect l="l" t="t" r="r" b="b"/>
            <a:pathLst>
              <a:path w="11036540" h="10635916">
                <a:moveTo>
                  <a:pt x="11036540" y="0"/>
                </a:moveTo>
                <a:lnTo>
                  <a:pt x="0" y="0"/>
                </a:lnTo>
                <a:lnTo>
                  <a:pt x="0" y="10635916"/>
                </a:lnTo>
                <a:lnTo>
                  <a:pt x="11036540" y="10635916"/>
                </a:lnTo>
                <a:lnTo>
                  <a:pt x="1103654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ru-RU"/>
          </a:p>
        </p:txBody>
      </p:sp>
      <p:sp>
        <p:nvSpPr>
          <p:cNvPr id="23" name="Freeform 23"/>
          <p:cNvSpPr/>
          <p:nvPr/>
        </p:nvSpPr>
        <p:spPr>
          <a:xfrm>
            <a:off x="-3399116" y="2353544"/>
            <a:ext cx="4519832" cy="5961409"/>
          </a:xfrm>
          <a:custGeom>
            <a:avLst/>
            <a:gdLst/>
            <a:ahLst/>
            <a:cxnLst/>
            <a:rect l="l" t="t" r="r" b="b"/>
            <a:pathLst>
              <a:path w="4519832" h="5961409">
                <a:moveTo>
                  <a:pt x="0" y="0"/>
                </a:moveTo>
                <a:lnTo>
                  <a:pt x="4519832" y="0"/>
                </a:lnTo>
                <a:lnTo>
                  <a:pt x="4519832" y="5961409"/>
                </a:lnTo>
                <a:lnTo>
                  <a:pt x="0" y="596140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Freeform 2"/>
          <p:cNvSpPr/>
          <p:nvPr/>
        </p:nvSpPr>
        <p:spPr>
          <a:xfrm>
            <a:off x="-1390669" y="5143500"/>
            <a:ext cx="4838737" cy="6382027"/>
          </a:xfrm>
          <a:custGeom>
            <a:avLst/>
            <a:gdLst/>
            <a:ahLst/>
            <a:cxnLst/>
            <a:rect l="l" t="t" r="r" b="b"/>
            <a:pathLst>
              <a:path w="4838737" h="6382027">
                <a:moveTo>
                  <a:pt x="0" y="0"/>
                </a:moveTo>
                <a:lnTo>
                  <a:pt x="4838738" y="0"/>
                </a:lnTo>
                <a:lnTo>
                  <a:pt x="4838738" y="6382027"/>
                </a:lnTo>
                <a:lnTo>
                  <a:pt x="0" y="638202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Freeform 5"/>
          <p:cNvSpPr/>
          <p:nvPr/>
        </p:nvSpPr>
        <p:spPr>
          <a:xfrm>
            <a:off x="-3272775" y="-1532656"/>
            <a:ext cx="4519832" cy="5961409"/>
          </a:xfrm>
          <a:custGeom>
            <a:avLst/>
            <a:gdLst/>
            <a:ahLst/>
            <a:cxnLst/>
            <a:rect l="l" t="t" r="r" b="b"/>
            <a:pathLst>
              <a:path w="4519832" h="5961409">
                <a:moveTo>
                  <a:pt x="0" y="0"/>
                </a:moveTo>
                <a:lnTo>
                  <a:pt x="4519832" y="0"/>
                </a:lnTo>
                <a:lnTo>
                  <a:pt x="4519832" y="5961410"/>
                </a:lnTo>
                <a:lnTo>
                  <a:pt x="0" y="596141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ru-RU"/>
          </a:p>
        </p:txBody>
      </p:sp>
      <p:grpSp>
        <p:nvGrpSpPr>
          <p:cNvPr id="12" name="Group 12"/>
          <p:cNvGrpSpPr/>
          <p:nvPr/>
        </p:nvGrpSpPr>
        <p:grpSpPr>
          <a:xfrm>
            <a:off x="0" y="3501960"/>
            <a:ext cx="9372600" cy="6688550"/>
            <a:chOff x="0" y="0"/>
            <a:chExt cx="2363083" cy="244094"/>
          </a:xfrm>
        </p:grpSpPr>
        <p:sp>
          <p:nvSpPr>
            <p:cNvPr id="13" name="Freeform 13"/>
            <p:cNvSpPr/>
            <p:nvPr/>
          </p:nvSpPr>
          <p:spPr>
            <a:xfrm>
              <a:off x="0" y="0"/>
              <a:ext cx="2363083" cy="244094"/>
            </a:xfrm>
            <a:custGeom>
              <a:avLst/>
              <a:gdLst/>
              <a:ahLst/>
              <a:cxnLst/>
              <a:rect l="l" t="t" r="r" b="b"/>
              <a:pathLst>
                <a:path w="2363083" h="244094">
                  <a:moveTo>
                    <a:pt x="0" y="0"/>
                  </a:moveTo>
                  <a:lnTo>
                    <a:pt x="2363083" y="0"/>
                  </a:lnTo>
                  <a:lnTo>
                    <a:pt x="2363083" y="244094"/>
                  </a:lnTo>
                  <a:lnTo>
                    <a:pt x="0" y="244094"/>
                  </a:lnTo>
                  <a:close/>
                </a:path>
              </a:pathLst>
            </a:custGeom>
            <a:solidFill>
              <a:srgbClr val="749835"/>
            </a:solidFill>
          </p:spPr>
          <p:txBody>
            <a:bodyPr/>
            <a:lstStyle/>
            <a:p>
              <a:endParaRPr lang="ru-RU"/>
            </a:p>
          </p:txBody>
        </p:sp>
        <p:sp>
          <p:nvSpPr>
            <p:cNvPr id="14" name="TextBox 14"/>
            <p:cNvSpPr txBox="1"/>
            <p:nvPr/>
          </p:nvSpPr>
          <p:spPr>
            <a:xfrm>
              <a:off x="0" y="-47625"/>
              <a:ext cx="2363083" cy="291719"/>
            </a:xfrm>
            <a:prstGeom prst="rect">
              <a:avLst/>
            </a:prstGeom>
          </p:spPr>
          <p:txBody>
            <a:bodyPr lIns="50800" tIns="50800" rIns="50800" bIns="50800" rtlCol="0" anchor="ctr"/>
            <a:lstStyle/>
            <a:p>
              <a:pPr algn="ctr">
                <a:lnSpc>
                  <a:spcPts val="2538"/>
                </a:lnSpc>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7" name="Freeform 7"/>
          <p:cNvSpPr/>
          <p:nvPr/>
        </p:nvSpPr>
        <p:spPr>
          <a:xfrm>
            <a:off x="13768168" y="-2780345"/>
            <a:ext cx="4519832" cy="5961409"/>
          </a:xfrm>
          <a:custGeom>
            <a:avLst/>
            <a:gdLst/>
            <a:ahLst/>
            <a:cxnLst/>
            <a:rect l="l" t="t" r="r" b="b"/>
            <a:pathLst>
              <a:path w="4519832" h="5961409">
                <a:moveTo>
                  <a:pt x="0" y="0"/>
                </a:moveTo>
                <a:lnTo>
                  <a:pt x="4519832" y="0"/>
                </a:lnTo>
                <a:lnTo>
                  <a:pt x="4519832" y="5961410"/>
                </a:lnTo>
                <a:lnTo>
                  <a:pt x="0" y="596141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10" name="Freeform 10"/>
          <p:cNvSpPr/>
          <p:nvPr/>
        </p:nvSpPr>
        <p:spPr>
          <a:xfrm>
            <a:off x="-2605879" y="-2610362"/>
            <a:ext cx="5989216" cy="7899446"/>
          </a:xfrm>
          <a:custGeom>
            <a:avLst/>
            <a:gdLst/>
            <a:ahLst/>
            <a:cxnLst/>
            <a:rect l="l" t="t" r="r" b="b"/>
            <a:pathLst>
              <a:path w="5989216" h="7899446">
                <a:moveTo>
                  <a:pt x="0" y="0"/>
                </a:moveTo>
                <a:lnTo>
                  <a:pt x="5989216" y="0"/>
                </a:lnTo>
                <a:lnTo>
                  <a:pt x="5989216" y="7899445"/>
                </a:lnTo>
                <a:lnTo>
                  <a:pt x="0" y="789944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1"/>
          <p:cNvSpPr txBox="1"/>
          <p:nvPr/>
        </p:nvSpPr>
        <p:spPr>
          <a:xfrm>
            <a:off x="2319956" y="1333500"/>
            <a:ext cx="12539044" cy="677108"/>
          </a:xfrm>
          <a:prstGeom prst="rect">
            <a:avLst/>
          </a:prstGeom>
        </p:spPr>
        <p:txBody>
          <a:bodyPr wrap="square" lIns="0" tIns="0" rIns="0" bIns="0" rtlCol="0" anchor="t">
            <a:spAutoFit/>
          </a:bodyPr>
          <a:lstStyle/>
          <a:p>
            <a:pPr algn="ctr"/>
            <a:r>
              <a:rPr lang="en-US" sz="4400" b="1" dirty="0">
                <a:solidFill>
                  <a:srgbClr val="FFFFFF"/>
                </a:solidFill>
                <a:latin typeface="Bebas Neue Bold"/>
                <a:ea typeface="Bebas Neue Bold"/>
                <a:cs typeface="Bebas Neue Bold"/>
                <a:sym typeface="Bebas Neue Bold"/>
              </a:rPr>
              <a:t>Forests </a:t>
            </a:r>
          </a:p>
        </p:txBody>
      </p:sp>
      <p:sp>
        <p:nvSpPr>
          <p:cNvPr id="12" name="TextBox 12"/>
          <p:cNvSpPr txBox="1"/>
          <p:nvPr/>
        </p:nvSpPr>
        <p:spPr>
          <a:xfrm>
            <a:off x="1192774" y="9451965"/>
            <a:ext cx="11989826" cy="307777"/>
          </a:xfrm>
          <a:prstGeom prst="rect">
            <a:avLst/>
          </a:prstGeom>
        </p:spPr>
        <p:txBody>
          <a:bodyPr wrap="square" lIns="0" tIns="0" rIns="0" bIns="0" rtlCol="0" anchor="t">
            <a:spAutoFit/>
          </a:bodyPr>
          <a:lstStyle/>
          <a:p>
            <a:r>
              <a:rPr lang="en-US" sz="2000" b="1" dirty="0">
                <a:latin typeface="Poppins Semi-Bold"/>
                <a:ea typeface="Poppins Semi-Bold"/>
                <a:cs typeface="Poppins Semi-Bold"/>
                <a:sym typeface="Poppins Semi-Bold"/>
              </a:rPr>
              <a:t>THE GREEN HEART OF OUR PLANET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76629"/>
        </a:solidFill>
        <a:effectLst/>
      </p:bgPr>
    </p:bg>
    <p:spTree>
      <p:nvGrpSpPr>
        <p:cNvPr id="1" name=""/>
        <p:cNvGrpSpPr/>
        <p:nvPr/>
      </p:nvGrpSpPr>
      <p:grpSpPr>
        <a:xfrm>
          <a:off x="0" y="0"/>
          <a:ext cx="0" cy="0"/>
          <a:chOff x="0" y="0"/>
          <a:chExt cx="0" cy="0"/>
        </a:xfrm>
      </p:grpSpPr>
      <p:sp>
        <p:nvSpPr>
          <p:cNvPr id="4" name="TextBox 4"/>
          <p:cNvSpPr txBox="1"/>
          <p:nvPr/>
        </p:nvSpPr>
        <p:spPr>
          <a:xfrm>
            <a:off x="3338240" y="1866900"/>
            <a:ext cx="9158560" cy="948978"/>
          </a:xfrm>
          <a:prstGeom prst="rect">
            <a:avLst/>
          </a:prstGeom>
        </p:spPr>
        <p:txBody>
          <a:bodyPr lIns="0" tIns="0" rIns="0" bIns="0" rtlCol="0" anchor="t">
            <a:spAutoFit/>
          </a:bodyPr>
          <a:lstStyle/>
          <a:p>
            <a:pPr algn="l">
              <a:lnSpc>
                <a:spcPts val="7430"/>
              </a:lnSpc>
            </a:pPr>
            <a:r>
              <a:rPr lang="en-US" sz="8741" b="1" dirty="0" err="1">
                <a:solidFill>
                  <a:srgbClr val="FFFFFF"/>
                </a:solidFill>
                <a:latin typeface="Bebas Neue Bold"/>
                <a:ea typeface="Bebas Neue Bold"/>
                <a:cs typeface="Bebas Neue Bold"/>
                <a:sym typeface="Bebas Neue Bold"/>
              </a:rPr>
              <a:t>reja</a:t>
            </a:r>
            <a:endParaRPr lang="en-US" sz="8741" b="1" dirty="0">
              <a:solidFill>
                <a:srgbClr val="FFFFFF"/>
              </a:solidFill>
              <a:latin typeface="Bebas Neue Bold"/>
              <a:ea typeface="Bebas Neue Bold"/>
              <a:cs typeface="Bebas Neue Bold"/>
              <a:sym typeface="Bebas Neue Bold"/>
            </a:endParaRPr>
          </a:p>
        </p:txBody>
      </p:sp>
      <p:sp>
        <p:nvSpPr>
          <p:cNvPr id="5" name="TextBox 5"/>
          <p:cNvSpPr txBox="1"/>
          <p:nvPr/>
        </p:nvSpPr>
        <p:spPr>
          <a:xfrm>
            <a:off x="1788064" y="4686300"/>
            <a:ext cx="10937335" cy="2728696"/>
          </a:xfrm>
          <a:prstGeom prst="rect">
            <a:avLst/>
          </a:prstGeom>
        </p:spPr>
        <p:txBody>
          <a:bodyPr wrap="square" lIns="0" tIns="0" rIns="0" bIns="0" rtlCol="0" anchor="t">
            <a:spAutoFit/>
          </a:bodyPr>
          <a:lstStyle/>
          <a:p>
            <a:pPr marL="843303" lvl="1" indent="-514350" algn="l">
              <a:lnSpc>
                <a:spcPts val="4266"/>
              </a:lnSpc>
              <a:buFont typeface="+mj-lt"/>
              <a:buAutoNum type="arabicPeriod"/>
            </a:pPr>
            <a:r>
              <a:rPr lang="en-US" sz="3047" b="1" dirty="0">
                <a:solidFill>
                  <a:srgbClr val="FFFFFF"/>
                </a:solidFill>
                <a:latin typeface="Poppins Medium"/>
                <a:ea typeface="Poppins Medium"/>
                <a:cs typeface="Poppins Medium"/>
                <a:sym typeface="Poppins Medium"/>
              </a:rPr>
              <a:t>Satellite monitoring</a:t>
            </a:r>
          </a:p>
          <a:p>
            <a:pPr marL="843303" lvl="1" indent="-514350" algn="l">
              <a:lnSpc>
                <a:spcPts val="4266"/>
              </a:lnSpc>
              <a:buFont typeface="+mj-lt"/>
              <a:buAutoNum type="arabicPeriod"/>
            </a:pPr>
            <a:r>
              <a:rPr lang="en-US" sz="3047" b="1" dirty="0">
                <a:solidFill>
                  <a:srgbClr val="FFFFFF"/>
                </a:solidFill>
                <a:latin typeface="Poppins Medium"/>
                <a:ea typeface="Poppins Medium"/>
                <a:cs typeface="Poppins Medium"/>
                <a:sym typeface="Poppins Medium"/>
              </a:rPr>
              <a:t>Drone surveys Geographic Information Systems</a:t>
            </a:r>
          </a:p>
          <a:p>
            <a:pPr marL="843303" lvl="1" indent="-514350" algn="l">
              <a:lnSpc>
                <a:spcPts val="4266"/>
              </a:lnSpc>
              <a:buFont typeface="+mj-lt"/>
              <a:buAutoNum type="arabicPeriod"/>
            </a:pPr>
            <a:r>
              <a:rPr lang="en-US" sz="3047" b="1" dirty="0">
                <a:solidFill>
                  <a:srgbClr val="FFFFFF"/>
                </a:solidFill>
                <a:latin typeface="Poppins Medium"/>
                <a:ea typeface="Poppins Medium"/>
                <a:cs typeface="Poppins Medium"/>
                <a:sym typeface="Poppins Medium"/>
              </a:rPr>
              <a:t>Environmental sensors</a:t>
            </a:r>
          </a:p>
          <a:p>
            <a:pPr marL="843303" lvl="1" indent="-514350">
              <a:lnSpc>
                <a:spcPts val="4266"/>
              </a:lnSpc>
              <a:buFont typeface="+mj-lt"/>
              <a:buAutoNum type="arabicPeriod"/>
            </a:pPr>
            <a:r>
              <a:rPr lang="en-US" sz="3047" b="1" dirty="0">
                <a:solidFill>
                  <a:srgbClr val="FFFFFF"/>
                </a:solidFill>
                <a:latin typeface="Poppins Medium"/>
                <a:ea typeface="Poppins Medium"/>
                <a:cs typeface="Poppins Medium"/>
                <a:sym typeface="Poppins Medium"/>
              </a:rPr>
              <a:t>Data analytics Satellite monitoring</a:t>
            </a:r>
          </a:p>
          <a:p>
            <a:pPr marL="843303" lvl="1" indent="-514350" algn="l">
              <a:lnSpc>
                <a:spcPts val="4266"/>
              </a:lnSpc>
              <a:buFont typeface="+mj-lt"/>
              <a:buAutoNum type="arabicPeriod"/>
            </a:pPr>
            <a:endParaRPr lang="en-US" sz="3047" b="1" dirty="0">
              <a:solidFill>
                <a:srgbClr val="FFFFFF"/>
              </a:solidFill>
              <a:latin typeface="Poppins Medium"/>
              <a:ea typeface="Poppins Medium"/>
              <a:cs typeface="Poppins Medium"/>
              <a:sym typeface="Poppins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9074" cy="10438254"/>
            <a:chOff x="0" y="0"/>
            <a:chExt cx="1511936" cy="1617159"/>
          </a:xfrm>
        </p:grpSpPr>
        <p:sp>
          <p:nvSpPr>
            <p:cNvPr id="3" name="Freeform 3"/>
            <p:cNvSpPr>
              <a:spLocks/>
            </p:cNvSpPr>
            <p:nvPr/>
          </p:nvSpPr>
          <p:spPr>
            <a:xfrm>
              <a:off x="0" y="0"/>
              <a:ext cx="1511936" cy="1617159"/>
            </a:xfrm>
            <a:custGeom>
              <a:avLst/>
              <a:gdLst/>
              <a:ahLst/>
              <a:cxnLst/>
              <a:rect l="l" t="t" r="r" b="b"/>
              <a:pathLst>
                <a:path w="1511936" h="1617159">
                  <a:moveTo>
                    <a:pt x="0" y="0"/>
                  </a:moveTo>
                  <a:lnTo>
                    <a:pt x="1511936" y="0"/>
                  </a:lnTo>
                  <a:lnTo>
                    <a:pt x="1511936" y="1617159"/>
                  </a:lnTo>
                  <a:lnTo>
                    <a:pt x="0" y="1617159"/>
                  </a:lnTo>
                  <a:close/>
                </a:path>
              </a:pathLst>
            </a:custGeom>
            <a:blipFill>
              <a:blip r:embed="rId2"/>
              <a:stretch>
                <a:fillRect l="-45190" r="-45190"/>
              </a:stretch>
            </a:blipFill>
          </p:spPr>
          <p:txBody>
            <a:bodyPr/>
            <a:lstStyle/>
            <a:p>
              <a:endParaRPr lang="ru-RU"/>
            </a:p>
          </p:txBody>
        </p:sp>
      </p:grpSp>
      <p:sp>
        <p:nvSpPr>
          <p:cNvPr id="9" name="TextBox 9"/>
          <p:cNvSpPr txBox="1"/>
          <p:nvPr/>
        </p:nvSpPr>
        <p:spPr>
          <a:xfrm>
            <a:off x="9791700" y="723900"/>
            <a:ext cx="8115300" cy="1778115"/>
          </a:xfrm>
          <a:prstGeom prst="rect">
            <a:avLst/>
          </a:prstGeom>
        </p:spPr>
        <p:txBody>
          <a:bodyPr lIns="0" tIns="0" rIns="0" bIns="0" rtlCol="0" anchor="t">
            <a:spAutoFit/>
          </a:bodyPr>
          <a:lstStyle/>
          <a:p>
            <a:pPr algn="r">
              <a:lnSpc>
                <a:spcPts val="7430"/>
              </a:lnSpc>
            </a:pPr>
            <a:r>
              <a:rPr lang="en-US" sz="5400" b="1" dirty="0">
                <a:solidFill>
                  <a:srgbClr val="749835"/>
                </a:solidFill>
                <a:latin typeface="Bebas Neue Bold"/>
                <a:ea typeface="Bebas Neue Bold"/>
                <a:cs typeface="Bebas Neue Bold"/>
                <a:sym typeface="Bebas Neue Bold"/>
              </a:rPr>
              <a:t>Understanding Forest Ecosystems</a:t>
            </a:r>
          </a:p>
          <a:p>
            <a:pPr algn="r">
              <a:lnSpc>
                <a:spcPts val="7430"/>
              </a:lnSpc>
            </a:pPr>
            <a:endParaRPr lang="en-US" sz="5400" b="1" dirty="0">
              <a:solidFill>
                <a:srgbClr val="749835"/>
              </a:solidFill>
              <a:latin typeface="Bebas Neue Bold"/>
              <a:ea typeface="Bebas Neue Bold"/>
              <a:cs typeface="Bebas Neue Bold"/>
              <a:sym typeface="Bebas Neue Bold"/>
            </a:endParaRPr>
          </a:p>
        </p:txBody>
      </p:sp>
      <p:sp>
        <p:nvSpPr>
          <p:cNvPr id="10" name="TextBox 10"/>
          <p:cNvSpPr txBox="1"/>
          <p:nvPr/>
        </p:nvSpPr>
        <p:spPr>
          <a:xfrm>
            <a:off x="10214253" y="3508521"/>
            <a:ext cx="6899157" cy="6717545"/>
          </a:xfrm>
          <a:prstGeom prst="rect">
            <a:avLst/>
          </a:prstGeom>
        </p:spPr>
        <p:txBody>
          <a:bodyPr lIns="0" tIns="0" rIns="0" bIns="0" rtlCol="0" anchor="t">
            <a:spAutoFit/>
          </a:bodyPr>
          <a:lstStyle/>
          <a:p>
            <a:pPr algn="just">
              <a:lnSpc>
                <a:spcPts val="2538"/>
              </a:lnSpc>
            </a:pPr>
            <a:r>
              <a:rPr lang="en-US" sz="1813" dirty="0">
                <a:solidFill>
                  <a:srgbClr val="14190D"/>
                </a:solidFill>
                <a:latin typeface="Poppins"/>
                <a:ea typeface="Poppins"/>
                <a:cs typeface="Poppins"/>
                <a:sym typeface="Poppins"/>
              </a:rPr>
              <a:t>LOREM IPSUM IS SIMPLY DUMMY TEXT OF THE PRINTING AND TYPESETTING INDUSTRY. LOREM IPSUM HAS BEEN THE INDUSTRY'S STANDARD DUMMY TEXT EVER SINCE 1966, WHEN DESIGNERS AT LETRASET AND JAMES MOSLEY, THE LIBRARIAN AT ST BRIDE PRINTING LIBRARY, TOOK A 1914 CICERO TRANSLATION AND SCRAMBLED IT TO MAKE DUMMY TEXT FOR LETRASET'S BODY TYPE SHEETSLOREM IPSUM IS SIMPLY DUMMY TEXT OF THE PRINTING AND TYPESETTING INDUSTRY. LOREM IPSUM HAS BEEN THE INDUSTRY'S STANDARD DUMMY TEXT EVER SINCE 1966, WHEN DESIGNERS AT LETRASET AND JAMES MOSLEY, THE LIBRARIAN AT ST BRIDE PRINTING LIBRARY, TOOK A 1914 CICERO TRANSLATION AND SCRAMBLED IT TO MAKE DUMMY TEXT FOR LETRASET'S BODY TYPE SHEETS</a:t>
            </a:r>
          </a:p>
          <a:p>
            <a:pPr algn="just">
              <a:lnSpc>
                <a:spcPts val="2538"/>
              </a:lnSpc>
            </a:pPr>
            <a:r>
              <a:rPr lang="en-US" sz="1813" dirty="0">
                <a:solidFill>
                  <a:srgbClr val="14190D"/>
                </a:solidFill>
                <a:latin typeface="Poppins"/>
                <a:ea typeface="Poppins"/>
                <a:cs typeface="Poppins"/>
                <a:sym typeface="Poppins"/>
              </a:rPr>
              <a:t>LOREM IPSUM IS SIMPLY DUMMY TEXT OF THE PRINTING AND TYPESETTING INDUSTRY. LOREM IPSUM HAS BEEN THE INDUSTRY'S STANDARD DUMMY TEXT EVER SINCE 1966, WHEN DESIGNERS AT LETRASET AND JAMES MOSLEY, THE LIBRARIAN AT ST BRIDE PRINTING LIBRARY, TOOK A 1914 CICERO TRANSLATION AND SCRAMBLED IT TO MAKE DUMMY TEXT FOR LETRASET'S BODY TYPE SHEETS</a:t>
            </a:r>
          </a:p>
          <a:p>
            <a:pPr algn="just">
              <a:lnSpc>
                <a:spcPts val="2538"/>
              </a:lnSpc>
            </a:pPr>
            <a:endParaRPr lang="en-US" sz="1813" dirty="0">
              <a:solidFill>
                <a:srgbClr val="14190D"/>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9602110" y="1143455"/>
            <a:ext cx="8000090" cy="8000090"/>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t="-16747" b="-16747"/>
              </a:stretch>
            </a:blipFill>
          </p:spPr>
          <p:txBody>
            <a:bodyPr/>
            <a:lstStyle/>
            <a:p>
              <a:endParaRPr lang="ru-RU"/>
            </a:p>
          </p:txBody>
        </p:sp>
      </p:grpSp>
      <p:sp>
        <p:nvSpPr>
          <p:cNvPr id="6" name="TextBox 6"/>
          <p:cNvSpPr txBox="1"/>
          <p:nvPr/>
        </p:nvSpPr>
        <p:spPr>
          <a:xfrm>
            <a:off x="1968287" y="5905500"/>
            <a:ext cx="6765947" cy="3832139"/>
          </a:xfrm>
          <a:prstGeom prst="rect">
            <a:avLst/>
          </a:prstGeom>
        </p:spPr>
        <p:txBody>
          <a:bodyPr wrap="square" lIns="0" tIns="0" rIns="0" bIns="0" rtlCol="0" anchor="t">
            <a:spAutoFit/>
          </a:bodyPr>
          <a:lstStyle/>
          <a:p>
            <a:pPr marL="195739" lvl="1" algn="just">
              <a:lnSpc>
                <a:spcPts val="2538"/>
              </a:lnSpc>
            </a:pPr>
            <a:r>
              <a:rPr lang="en-US" sz="1813" dirty="0">
                <a:solidFill>
                  <a:srgbClr val="14190D"/>
                </a:solidFill>
                <a:latin typeface="Poppins"/>
                <a:ea typeface="Poppins"/>
                <a:cs typeface="Poppins"/>
                <a:sym typeface="Poppins"/>
              </a:rPr>
              <a:t>DECOMPOSITION AND NUTRIENT CYCLING A FOREST CAN BE DIVIDED INTO SEVERAL VERTICAL LAYERS, EACH PROVIDING UNIQUE ENVIRONMENTAL CONDITIONS</a:t>
            </a:r>
          </a:p>
          <a:p>
            <a:pPr marL="195739" lvl="1" algn="just">
              <a:lnSpc>
                <a:spcPts val="2538"/>
              </a:lnSpc>
            </a:pPr>
            <a:r>
              <a:rPr lang="en-US" sz="1813" dirty="0">
                <a:solidFill>
                  <a:srgbClr val="14190D"/>
                </a:solidFill>
                <a:latin typeface="Poppins"/>
                <a:ea typeface="Poppins"/>
                <a:cs typeface="Poppins"/>
                <a:sym typeface="Poppins"/>
              </a:rPr>
              <a:t>A FOREST CAN BE DIVIDED INTO SEVERAL VERTICAL LAYERS, EACH PROVIDING UNIQUE ENVIRONMENTAL CONDITIONS</a:t>
            </a:r>
          </a:p>
          <a:p>
            <a:pPr marL="195739" lvl="1" algn="just">
              <a:lnSpc>
                <a:spcPts val="2538"/>
              </a:lnSpc>
            </a:pPr>
            <a:r>
              <a:rPr lang="en-US" sz="1813" dirty="0">
                <a:solidFill>
                  <a:srgbClr val="14190D"/>
                </a:solidFill>
                <a:latin typeface="Poppins"/>
                <a:ea typeface="Poppins"/>
                <a:cs typeface="Poppins"/>
                <a:sym typeface="Poppins"/>
              </a:rPr>
              <a:t>A FOREST CAN BE DIVIDED INTO SEVERAL VERTICAL LAYERS, EACH PROVIDING UNIQUE ENVIRONMENTAL CONDITIONS A FOREST CAN BE DIVIDED INTO SEVERAL VERTICAL LAYERS, EACH PROVIDING UNIQUE ENVIRONMENTAL CONDITIONSA FOREST CAN BE DIVIDED INTO SEVERAL VERTICAL LAYERS, EACH PROVIDING UNIQUE ENVIRONMENTAL CONDITIONS</a:t>
            </a:r>
          </a:p>
          <a:p>
            <a:pPr marL="195739" lvl="1" algn="just">
              <a:lnSpc>
                <a:spcPts val="2538"/>
              </a:lnSpc>
            </a:pPr>
            <a:endParaRPr lang="en-US" sz="1813" dirty="0">
              <a:solidFill>
                <a:srgbClr val="14190D"/>
              </a:solidFill>
              <a:latin typeface="Poppins"/>
              <a:ea typeface="Poppins"/>
              <a:cs typeface="Poppins"/>
              <a:sym typeface="Poppins"/>
            </a:endParaRPr>
          </a:p>
        </p:txBody>
      </p:sp>
      <p:sp>
        <p:nvSpPr>
          <p:cNvPr id="9" name="TextBox 9"/>
          <p:cNvSpPr txBox="1"/>
          <p:nvPr/>
        </p:nvSpPr>
        <p:spPr>
          <a:xfrm>
            <a:off x="1219200" y="647700"/>
            <a:ext cx="7488087" cy="738664"/>
          </a:xfrm>
          <a:prstGeom prst="rect">
            <a:avLst/>
          </a:prstGeom>
        </p:spPr>
        <p:txBody>
          <a:bodyPr wrap="square" lIns="0" tIns="0" rIns="0" bIns="0" rtlCol="0" anchor="t">
            <a:spAutoFit/>
          </a:bodyPr>
          <a:lstStyle/>
          <a:p>
            <a:pPr algn="just"/>
            <a:r>
              <a:rPr lang="en-US" sz="4800" b="1" dirty="0">
                <a:solidFill>
                  <a:srgbClr val="749835"/>
                </a:solidFill>
                <a:latin typeface="Bebas Neue Bold"/>
                <a:ea typeface="Bebas Neue Bold"/>
                <a:cs typeface="Bebas Neue Bold"/>
                <a:sym typeface="Bebas Neue Bold"/>
              </a:rPr>
              <a:t>Layers of a Forest</a:t>
            </a:r>
          </a:p>
        </p:txBody>
      </p:sp>
      <p:sp>
        <p:nvSpPr>
          <p:cNvPr id="10" name="TextBox 10"/>
          <p:cNvSpPr txBox="1"/>
          <p:nvPr/>
        </p:nvSpPr>
        <p:spPr>
          <a:xfrm>
            <a:off x="1368366" y="2847977"/>
            <a:ext cx="6584819" cy="2870338"/>
          </a:xfrm>
          <a:prstGeom prst="rect">
            <a:avLst/>
          </a:prstGeom>
        </p:spPr>
        <p:txBody>
          <a:bodyPr lIns="0" tIns="0" rIns="0" bIns="0" rtlCol="0" anchor="t">
            <a:spAutoFit/>
          </a:bodyPr>
          <a:lstStyle/>
          <a:p>
            <a:pPr algn="just">
              <a:lnSpc>
                <a:spcPts val="2538"/>
              </a:lnSpc>
            </a:pPr>
            <a:r>
              <a:rPr lang="en-US" sz="1813" dirty="0">
                <a:solidFill>
                  <a:srgbClr val="14190D"/>
                </a:solidFill>
                <a:latin typeface="Poppins"/>
                <a:ea typeface="Poppins"/>
                <a:cs typeface="Poppins"/>
                <a:sym typeface="Poppins"/>
              </a:rPr>
              <a:t>A FOREST CAN BE DIVIDED INTO SEVERAL VERTICAL LAYERS, EACH PROVIDING UNIQUE ENVIRONMENTAL CONDITIONS A FOREST CAN BE DIVIDED INTO SEVERAL VERTICAL LAYERS, EACH PROVIDING UNIQUE ENVIRONMENTAL CONDITIONS</a:t>
            </a:r>
          </a:p>
          <a:p>
            <a:pPr algn="just">
              <a:lnSpc>
                <a:spcPts val="2538"/>
              </a:lnSpc>
            </a:pPr>
            <a:r>
              <a:rPr lang="en-US" sz="1813" dirty="0">
                <a:solidFill>
                  <a:srgbClr val="14190D"/>
                </a:solidFill>
                <a:latin typeface="Poppins"/>
                <a:ea typeface="Poppins"/>
                <a:cs typeface="Poppins"/>
                <a:sym typeface="Poppins"/>
              </a:rPr>
              <a:t>A FOREST CAN BE DIVIDED INTO SEVERAL VERTICAL LAYERS, EACH PROVIDING UNIQUE ENVIRONMENTAL CONDITIONS</a:t>
            </a:r>
          </a:p>
          <a:p>
            <a:pPr algn="just">
              <a:lnSpc>
                <a:spcPts val="2538"/>
              </a:lnSpc>
            </a:pPr>
            <a:r>
              <a:rPr lang="en-US" sz="1813" dirty="0">
                <a:solidFill>
                  <a:srgbClr val="14190D"/>
                </a:solidFill>
                <a:latin typeface="Poppins"/>
                <a:ea typeface="Poppins"/>
                <a:cs typeface="Poppins"/>
                <a:sym typeface="Poppins"/>
              </a:rPr>
              <a:t>A FOREST CAN BE DIVIDED INTO SEVERAL VERTICAL LAYERS, EACH PROVIDING UNIQUE ENVIRONMENTAL CONDITIONS</a:t>
            </a:r>
          </a:p>
          <a:p>
            <a:pPr algn="just">
              <a:lnSpc>
                <a:spcPts val="2538"/>
              </a:lnSpc>
            </a:pPr>
            <a:endParaRPr lang="en-US" sz="1813" dirty="0">
              <a:solidFill>
                <a:srgbClr val="14190D"/>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76629"/>
        </a:solidFill>
        <a:effectLst/>
      </p:bgPr>
    </p:bg>
    <p:spTree>
      <p:nvGrpSpPr>
        <p:cNvPr id="1" name=""/>
        <p:cNvGrpSpPr/>
        <p:nvPr/>
      </p:nvGrpSpPr>
      <p:grpSpPr>
        <a:xfrm>
          <a:off x="0" y="0"/>
          <a:ext cx="0" cy="0"/>
          <a:chOff x="0" y="0"/>
          <a:chExt cx="0" cy="0"/>
        </a:xfrm>
      </p:grpSpPr>
      <p:grpSp>
        <p:nvGrpSpPr>
          <p:cNvPr id="5" name="Group 5"/>
          <p:cNvGrpSpPr/>
          <p:nvPr/>
        </p:nvGrpSpPr>
        <p:grpSpPr>
          <a:xfrm>
            <a:off x="11593932" y="1028700"/>
            <a:ext cx="6050255" cy="8305800"/>
            <a:chOff x="0" y="0"/>
            <a:chExt cx="785144" cy="812800"/>
          </a:xfrm>
        </p:grpSpPr>
        <p:sp>
          <p:nvSpPr>
            <p:cNvPr id="6" name="Freeform 6"/>
            <p:cNvSpPr/>
            <p:nvPr/>
          </p:nvSpPr>
          <p:spPr>
            <a:xfrm>
              <a:off x="0" y="0"/>
              <a:ext cx="785144" cy="812800"/>
            </a:xfrm>
            <a:custGeom>
              <a:avLst/>
              <a:gdLst/>
              <a:ahLst/>
              <a:cxnLst/>
              <a:rect l="l" t="t" r="r" b="b"/>
              <a:pathLst>
                <a:path w="785144" h="812800">
                  <a:moveTo>
                    <a:pt x="35136" y="0"/>
                  </a:moveTo>
                  <a:lnTo>
                    <a:pt x="750009" y="0"/>
                  </a:lnTo>
                  <a:cubicBezTo>
                    <a:pt x="769414" y="0"/>
                    <a:pt x="785144" y="15731"/>
                    <a:pt x="785144" y="35136"/>
                  </a:cubicBezTo>
                  <a:lnTo>
                    <a:pt x="785144" y="777664"/>
                  </a:lnTo>
                  <a:cubicBezTo>
                    <a:pt x="785144" y="797069"/>
                    <a:pt x="769414" y="812800"/>
                    <a:pt x="750009" y="812800"/>
                  </a:cubicBezTo>
                  <a:lnTo>
                    <a:pt x="35136" y="812800"/>
                  </a:lnTo>
                  <a:cubicBezTo>
                    <a:pt x="15731" y="812800"/>
                    <a:pt x="0" y="797069"/>
                    <a:pt x="0" y="777664"/>
                  </a:cubicBezTo>
                  <a:lnTo>
                    <a:pt x="0" y="35136"/>
                  </a:lnTo>
                  <a:cubicBezTo>
                    <a:pt x="0" y="15731"/>
                    <a:pt x="15731" y="0"/>
                    <a:pt x="35136" y="0"/>
                  </a:cubicBezTo>
                  <a:close/>
                </a:path>
              </a:pathLst>
            </a:custGeom>
            <a:blipFill>
              <a:blip r:embed="rId2"/>
              <a:stretch>
                <a:fillRect t="-14476" b="-14476"/>
              </a:stretch>
            </a:blipFill>
            <a:ln w="47625" cap="rnd">
              <a:solidFill>
                <a:srgbClr val="FFFFFF"/>
              </a:solidFill>
              <a:prstDash val="solid"/>
              <a:round/>
            </a:ln>
          </p:spPr>
          <p:txBody>
            <a:bodyPr/>
            <a:lstStyle/>
            <a:p>
              <a:endParaRPr lang="ru-RU"/>
            </a:p>
          </p:txBody>
        </p:sp>
      </p:grpSp>
      <p:sp>
        <p:nvSpPr>
          <p:cNvPr id="10" name="TextBox 10"/>
          <p:cNvSpPr txBox="1"/>
          <p:nvPr/>
        </p:nvSpPr>
        <p:spPr>
          <a:xfrm>
            <a:off x="381000" y="1028700"/>
            <a:ext cx="10485711" cy="738664"/>
          </a:xfrm>
          <a:prstGeom prst="rect">
            <a:avLst/>
          </a:prstGeom>
        </p:spPr>
        <p:txBody>
          <a:bodyPr wrap="square" lIns="0" tIns="0" rIns="0" bIns="0" rtlCol="0" anchor="t">
            <a:spAutoFit/>
          </a:bodyPr>
          <a:lstStyle/>
          <a:p>
            <a:pPr algn="ctr"/>
            <a:r>
              <a:rPr lang="en-US" sz="4800" b="1" dirty="0">
                <a:solidFill>
                  <a:srgbClr val="FFFFFF"/>
                </a:solidFill>
                <a:latin typeface="Bebas Neue Bold"/>
                <a:ea typeface="Bebas Neue Bold"/>
                <a:cs typeface="Bebas Neue Bold"/>
                <a:sym typeface="Bebas Neue Bold"/>
              </a:rPr>
              <a:t>Biodiversity Hotspots</a:t>
            </a:r>
          </a:p>
        </p:txBody>
      </p:sp>
      <p:sp>
        <p:nvSpPr>
          <p:cNvPr id="23" name="TextBox 22">
            <a:extLst>
              <a:ext uri="{FF2B5EF4-FFF2-40B4-BE49-F238E27FC236}">
                <a16:creationId xmlns:a16="http://schemas.microsoft.com/office/drawing/2014/main" id="{31A557C8-FE29-6DDB-5808-127F59A1F253}"/>
              </a:ext>
            </a:extLst>
          </p:cNvPr>
          <p:cNvSpPr txBox="1"/>
          <p:nvPr/>
        </p:nvSpPr>
        <p:spPr>
          <a:xfrm>
            <a:off x="1219200" y="2914314"/>
            <a:ext cx="10079664" cy="4868512"/>
          </a:xfrm>
          <a:prstGeom prst="rect">
            <a:avLst/>
          </a:prstGeom>
          <a:noFill/>
        </p:spPr>
        <p:txBody>
          <a:bodyPr wrap="square">
            <a:spAutoFit/>
          </a:bodyPr>
          <a:lstStyle/>
          <a:p>
            <a:pPr>
              <a:lnSpc>
                <a:spcPts val="3099"/>
              </a:lnSpc>
            </a:pPr>
            <a:r>
              <a:rPr lang="en-US" sz="2924" dirty="0">
                <a:solidFill>
                  <a:srgbClr val="FFFFFF"/>
                </a:solidFill>
                <a:latin typeface="Poppins"/>
                <a:ea typeface="Poppins"/>
                <a:cs typeface="Poppins"/>
                <a:sym typeface="Poppins"/>
              </a:rPr>
              <a:t> Carbon storage Carbon storage</a:t>
            </a:r>
          </a:p>
          <a:p>
            <a:pPr>
              <a:lnSpc>
                <a:spcPts val="3099"/>
              </a:lnSpc>
            </a:pPr>
            <a:r>
              <a:rPr lang="en-US" sz="2924" dirty="0">
                <a:solidFill>
                  <a:srgbClr val="FFFFFF"/>
                </a:solidFill>
                <a:latin typeface="Poppins"/>
                <a:ea typeface="Poppins"/>
                <a:cs typeface="Poppins"/>
                <a:sym typeface="Poppins"/>
              </a:rPr>
              <a:t> Carbon storage</a:t>
            </a:r>
          </a:p>
          <a:p>
            <a:pPr>
              <a:lnSpc>
                <a:spcPts val="3099"/>
              </a:lnSpc>
            </a:pPr>
            <a:r>
              <a:rPr lang="en-US" sz="2924" dirty="0">
                <a:solidFill>
                  <a:srgbClr val="FFFFFF"/>
                </a:solidFill>
                <a:latin typeface="Poppins"/>
                <a:ea typeface="Poppins"/>
                <a:cs typeface="Poppins"/>
                <a:sym typeface="Poppins"/>
              </a:rPr>
              <a:t> Carbon storage</a:t>
            </a:r>
          </a:p>
          <a:p>
            <a:pPr>
              <a:lnSpc>
                <a:spcPts val="3099"/>
              </a:lnSpc>
            </a:pPr>
            <a:r>
              <a:rPr lang="en-US" sz="2924" dirty="0">
                <a:solidFill>
                  <a:srgbClr val="FFFFFF"/>
                </a:solidFill>
                <a:latin typeface="Poppins"/>
                <a:ea typeface="Poppins"/>
                <a:cs typeface="Poppins"/>
                <a:sym typeface="Poppins"/>
              </a:rPr>
              <a:t> Carbon storage</a:t>
            </a:r>
          </a:p>
          <a:p>
            <a:pPr>
              <a:lnSpc>
                <a:spcPts val="3099"/>
              </a:lnSpc>
            </a:pPr>
            <a:r>
              <a:rPr lang="en-US" sz="2924" dirty="0">
                <a:solidFill>
                  <a:srgbClr val="FFFFFF"/>
                </a:solidFill>
                <a:latin typeface="Poppins"/>
                <a:ea typeface="Poppins"/>
                <a:cs typeface="Poppins"/>
                <a:sym typeface="Poppins"/>
              </a:rPr>
              <a:t> Carbon storage</a:t>
            </a:r>
          </a:p>
          <a:p>
            <a:pPr>
              <a:lnSpc>
                <a:spcPts val="3099"/>
              </a:lnSpc>
            </a:pPr>
            <a:r>
              <a:rPr lang="en-US" sz="2924" dirty="0">
                <a:solidFill>
                  <a:srgbClr val="FFFFFF"/>
                </a:solidFill>
                <a:latin typeface="Poppins"/>
                <a:ea typeface="Poppins"/>
                <a:cs typeface="Poppins"/>
                <a:sym typeface="Poppins"/>
              </a:rPr>
              <a:t> Carbon storage</a:t>
            </a:r>
          </a:p>
          <a:p>
            <a:pPr>
              <a:lnSpc>
                <a:spcPts val="3099"/>
              </a:lnSpc>
            </a:pPr>
            <a:r>
              <a:rPr lang="en-US" sz="2924" dirty="0">
                <a:solidFill>
                  <a:srgbClr val="FFFFFF"/>
                </a:solidFill>
                <a:latin typeface="Poppins"/>
                <a:ea typeface="Poppins"/>
                <a:cs typeface="Poppins"/>
                <a:sym typeface="Poppins"/>
              </a:rPr>
              <a:t> Carbon storage</a:t>
            </a:r>
          </a:p>
          <a:p>
            <a:pPr>
              <a:lnSpc>
                <a:spcPts val="3099"/>
              </a:lnSpc>
            </a:pPr>
            <a:r>
              <a:rPr lang="en-US" sz="2924" dirty="0">
                <a:solidFill>
                  <a:srgbClr val="FFFFFF"/>
                </a:solidFill>
                <a:latin typeface="Poppins"/>
                <a:ea typeface="Poppins"/>
                <a:cs typeface="Poppins"/>
                <a:sym typeface="Poppins"/>
              </a:rPr>
              <a:t> Carbon storage</a:t>
            </a:r>
          </a:p>
          <a:p>
            <a:pPr>
              <a:lnSpc>
                <a:spcPts val="3099"/>
              </a:lnSpc>
            </a:pPr>
            <a:r>
              <a:rPr lang="en-US" sz="2924" dirty="0">
                <a:solidFill>
                  <a:srgbClr val="FFFFFF"/>
                </a:solidFill>
                <a:latin typeface="Poppins"/>
                <a:ea typeface="Poppins"/>
                <a:cs typeface="Poppins"/>
                <a:sym typeface="Poppins"/>
              </a:rPr>
              <a:t> Carbon storage</a:t>
            </a:r>
          </a:p>
          <a:p>
            <a:pPr>
              <a:lnSpc>
                <a:spcPts val="3099"/>
              </a:lnSpc>
            </a:pPr>
            <a:r>
              <a:rPr lang="en-US" sz="2924" dirty="0">
                <a:solidFill>
                  <a:srgbClr val="FFFFFF"/>
                </a:solidFill>
                <a:latin typeface="Poppins"/>
                <a:ea typeface="Poppins"/>
                <a:cs typeface="Poppins"/>
                <a:sym typeface="Poppins"/>
              </a:rPr>
              <a:t> Carbon storage</a:t>
            </a:r>
          </a:p>
          <a:p>
            <a:pPr>
              <a:lnSpc>
                <a:spcPts val="3099"/>
              </a:lnSpc>
            </a:pPr>
            <a:r>
              <a:rPr lang="en-US" sz="2924" dirty="0">
                <a:solidFill>
                  <a:srgbClr val="FFFFFF"/>
                </a:solidFill>
                <a:latin typeface="Poppins"/>
                <a:ea typeface="Poppins"/>
                <a:cs typeface="Poppins"/>
                <a:sym typeface="Poppins"/>
              </a:rPr>
              <a:t> Carbon storage</a:t>
            </a:r>
          </a:p>
          <a:p>
            <a:pPr>
              <a:lnSpc>
                <a:spcPts val="3099"/>
              </a:lnSpc>
            </a:pPr>
            <a:endParaRPr lang="en-US" sz="2924" dirty="0">
              <a:solidFill>
                <a:srgbClr val="FFFFFF"/>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717757" y="-75627"/>
            <a:ext cx="8837124" cy="10653769"/>
            <a:chOff x="0" y="0"/>
            <a:chExt cx="1369102" cy="1650548"/>
          </a:xfrm>
        </p:grpSpPr>
        <p:sp>
          <p:nvSpPr>
            <p:cNvPr id="3" name="Freeform 3"/>
            <p:cNvSpPr/>
            <p:nvPr/>
          </p:nvSpPr>
          <p:spPr>
            <a:xfrm>
              <a:off x="0" y="0"/>
              <a:ext cx="1369102" cy="1650548"/>
            </a:xfrm>
            <a:custGeom>
              <a:avLst/>
              <a:gdLst/>
              <a:ahLst/>
              <a:cxnLst/>
              <a:rect l="l" t="t" r="r" b="b"/>
              <a:pathLst>
                <a:path w="1369102" h="1650548">
                  <a:moveTo>
                    <a:pt x="0" y="0"/>
                  </a:moveTo>
                  <a:lnTo>
                    <a:pt x="1369102" y="0"/>
                  </a:lnTo>
                  <a:lnTo>
                    <a:pt x="1369102" y="1650548"/>
                  </a:lnTo>
                  <a:lnTo>
                    <a:pt x="0" y="1650548"/>
                  </a:lnTo>
                  <a:close/>
                </a:path>
              </a:pathLst>
            </a:custGeom>
            <a:blipFill>
              <a:blip r:embed="rId2"/>
              <a:stretch>
                <a:fillRect l="-57291" r="-57291"/>
              </a:stretch>
            </a:blipFill>
          </p:spPr>
          <p:txBody>
            <a:bodyPr/>
            <a:lstStyle/>
            <a:p>
              <a:endParaRPr lang="ru-RU"/>
            </a:p>
          </p:txBody>
        </p:sp>
      </p:grpSp>
      <p:sp>
        <p:nvSpPr>
          <p:cNvPr id="22" name="TextBox 22"/>
          <p:cNvSpPr txBox="1"/>
          <p:nvPr/>
        </p:nvSpPr>
        <p:spPr>
          <a:xfrm>
            <a:off x="1524000" y="317687"/>
            <a:ext cx="7467600" cy="923330"/>
          </a:xfrm>
          <a:prstGeom prst="rect">
            <a:avLst/>
          </a:prstGeom>
        </p:spPr>
        <p:txBody>
          <a:bodyPr wrap="square" lIns="0" tIns="0" rIns="0" bIns="0" rtlCol="0" anchor="t">
            <a:spAutoFit/>
          </a:bodyPr>
          <a:lstStyle/>
          <a:p>
            <a:pPr algn="just"/>
            <a:r>
              <a:rPr lang="en-US" sz="6000" b="1" dirty="0">
                <a:solidFill>
                  <a:srgbClr val="749835"/>
                </a:solidFill>
                <a:latin typeface="Bebas Neue Bold"/>
                <a:ea typeface="Bebas Neue Bold"/>
                <a:cs typeface="Bebas Neue Bold"/>
                <a:sym typeface="Bebas Neue Bold"/>
              </a:rPr>
              <a:t>Benefits Provided by Forests </a:t>
            </a:r>
          </a:p>
        </p:txBody>
      </p:sp>
      <p:sp>
        <p:nvSpPr>
          <p:cNvPr id="25" name="TextBox 25"/>
          <p:cNvSpPr txBox="1"/>
          <p:nvPr/>
        </p:nvSpPr>
        <p:spPr>
          <a:xfrm>
            <a:off x="381001" y="4000500"/>
            <a:ext cx="8763000" cy="6749925"/>
          </a:xfrm>
          <a:prstGeom prst="rect">
            <a:avLst/>
          </a:prstGeom>
        </p:spPr>
        <p:txBody>
          <a:bodyPr wrap="square" lIns="0" tIns="0" rIns="0" bIns="0" rtlCol="0" anchor="t">
            <a:spAutoFit/>
          </a:bodyPr>
          <a:lstStyle/>
          <a:p>
            <a:pPr algn="just"/>
            <a:r>
              <a:rPr lang="en-US" sz="2924" dirty="0">
                <a:solidFill>
                  <a:srgbClr val="FFFFFF"/>
                </a:solidFill>
                <a:latin typeface="Poppins"/>
                <a:ea typeface="Poppins"/>
                <a:cs typeface="Poppins"/>
                <a:sym typeface="Poppins"/>
              </a:rPr>
              <a:t> Carbon </a:t>
            </a:r>
            <a:r>
              <a:rPr lang="en-US" sz="2924" dirty="0" err="1">
                <a:solidFill>
                  <a:srgbClr val="FFFFFF"/>
                </a:solidFill>
                <a:latin typeface="Poppins"/>
                <a:ea typeface="Poppins"/>
                <a:cs typeface="Poppins"/>
                <a:sym typeface="Poppins"/>
              </a:rPr>
              <a:t>stoghfjhjgjkhgjhgb</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jhgj</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hj</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jhgjhgjbvchcgnfgnvmnbvnbvbv</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nb</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nbv</a:t>
            </a:r>
            <a:r>
              <a:rPr lang="en-US" sz="2924" dirty="0">
                <a:solidFill>
                  <a:srgbClr val="FFFFFF"/>
                </a:solidFill>
                <a:latin typeface="Poppins"/>
                <a:ea typeface="Poppins"/>
                <a:cs typeface="Poppins"/>
                <a:sym typeface="Poppins"/>
              </a:rPr>
              <a:t> c </a:t>
            </a:r>
            <a:r>
              <a:rPr lang="en-US" sz="2924" dirty="0" err="1">
                <a:solidFill>
                  <a:srgbClr val="FFFFFF"/>
                </a:solidFill>
                <a:latin typeface="Poppins"/>
                <a:ea typeface="Poppins"/>
                <a:cs typeface="Poppins"/>
                <a:sym typeface="Poppins"/>
              </a:rPr>
              <a:t>hnbv</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mhnbn</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nvblkjbkj</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jvbjkb,mnhgjhgjhgjhgjhgbjhgbkjhrage</a:t>
            </a:r>
            <a:r>
              <a:rPr lang="en-US" sz="2924" dirty="0">
                <a:solidFill>
                  <a:srgbClr val="FFFFFF"/>
                </a:solidFill>
                <a:latin typeface="Poppins"/>
                <a:ea typeface="Poppins"/>
                <a:cs typeface="Poppins"/>
                <a:sym typeface="Poppins"/>
              </a:rPr>
              <a:t>  Carbon </a:t>
            </a:r>
            <a:r>
              <a:rPr lang="en-US" sz="2924" dirty="0" err="1">
                <a:solidFill>
                  <a:srgbClr val="FFFFFF"/>
                </a:solidFill>
                <a:latin typeface="Poppins"/>
                <a:ea typeface="Poppins"/>
                <a:cs typeface="Poppins"/>
                <a:sym typeface="Poppins"/>
              </a:rPr>
              <a:t>stoghfjhjgjkhgjhgb</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jhgj</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hj</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jhgjhgjbvchcgnfgnvmnbvnbvbv</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nb</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nbv</a:t>
            </a:r>
            <a:r>
              <a:rPr lang="en-US" sz="2924" dirty="0">
                <a:solidFill>
                  <a:srgbClr val="FFFFFF"/>
                </a:solidFill>
                <a:latin typeface="Poppins"/>
                <a:ea typeface="Poppins"/>
                <a:cs typeface="Poppins"/>
                <a:sym typeface="Poppins"/>
              </a:rPr>
              <a:t> c </a:t>
            </a:r>
            <a:r>
              <a:rPr lang="en-US" sz="2924" dirty="0" err="1">
                <a:solidFill>
                  <a:srgbClr val="FFFFFF"/>
                </a:solidFill>
                <a:latin typeface="Poppins"/>
                <a:ea typeface="Poppins"/>
                <a:cs typeface="Poppins"/>
                <a:sym typeface="Poppins"/>
              </a:rPr>
              <a:t>hnbv</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mhnbn</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nvblkjbkj</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jvbjkb,mnhgjhgjhgjhg</a:t>
            </a:r>
            <a:r>
              <a:rPr lang="en-US" sz="2924" dirty="0">
                <a:solidFill>
                  <a:srgbClr val="FFFFFF"/>
                </a:solidFill>
                <a:latin typeface="Poppins"/>
                <a:ea typeface="Poppins"/>
                <a:cs typeface="Poppins"/>
                <a:sym typeface="Poppins"/>
              </a:rPr>
              <a:t> Carbon </a:t>
            </a:r>
            <a:r>
              <a:rPr lang="en-US" sz="2924" dirty="0" err="1">
                <a:solidFill>
                  <a:srgbClr val="FFFFFF"/>
                </a:solidFill>
                <a:latin typeface="Poppins"/>
                <a:ea typeface="Poppins"/>
                <a:cs typeface="Poppins"/>
                <a:sym typeface="Poppins"/>
              </a:rPr>
              <a:t>stoghfjhjgjkhgjhgb</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jhgj</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hj</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jhgjhgjbvchcgnfgnvmnbvnbvbv</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nb</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nbv</a:t>
            </a:r>
            <a:r>
              <a:rPr lang="en-US" sz="2924" dirty="0">
                <a:solidFill>
                  <a:srgbClr val="FFFFFF"/>
                </a:solidFill>
                <a:latin typeface="Poppins"/>
                <a:ea typeface="Poppins"/>
                <a:cs typeface="Poppins"/>
                <a:sym typeface="Poppins"/>
              </a:rPr>
              <a:t> c </a:t>
            </a:r>
            <a:r>
              <a:rPr lang="en-US" sz="2924" dirty="0" err="1">
                <a:solidFill>
                  <a:srgbClr val="FFFFFF"/>
                </a:solidFill>
                <a:latin typeface="Poppins"/>
                <a:ea typeface="Poppins"/>
                <a:cs typeface="Poppins"/>
                <a:sym typeface="Poppins"/>
              </a:rPr>
              <a:t>hnbv</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mhnbn</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jhgbjhgbkjhrage</a:t>
            </a:r>
            <a:endParaRPr lang="en-US" sz="2924" dirty="0">
              <a:solidFill>
                <a:srgbClr val="FFFFFF"/>
              </a:solidFill>
              <a:latin typeface="Poppins"/>
              <a:ea typeface="Poppins"/>
              <a:cs typeface="Poppins"/>
              <a:sym typeface="Poppins"/>
            </a:endParaRPr>
          </a:p>
          <a:p>
            <a:r>
              <a:rPr lang="en-US" sz="2924" dirty="0">
                <a:solidFill>
                  <a:srgbClr val="FFFFFF"/>
                </a:solidFill>
                <a:latin typeface="Poppins"/>
                <a:ea typeface="Poppins"/>
                <a:cs typeface="Poppins"/>
                <a:sym typeface="Poppins"/>
              </a:rPr>
              <a:t> Carbon </a:t>
            </a:r>
            <a:r>
              <a:rPr lang="en-US" sz="2924" dirty="0" err="1">
                <a:solidFill>
                  <a:srgbClr val="FFFFFF"/>
                </a:solidFill>
                <a:latin typeface="Poppins"/>
                <a:ea typeface="Poppins"/>
                <a:cs typeface="Poppins"/>
                <a:sym typeface="Poppins"/>
              </a:rPr>
              <a:t>stoghfjhjgjkhgjhgb</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jhgj</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hj</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jhgjhgjbvchcgnfgnvmnbvnbvbv</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nb</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nbv</a:t>
            </a:r>
            <a:r>
              <a:rPr lang="en-US" sz="2924" dirty="0">
                <a:solidFill>
                  <a:srgbClr val="FFFFFF"/>
                </a:solidFill>
                <a:latin typeface="Poppins"/>
                <a:ea typeface="Poppins"/>
                <a:cs typeface="Poppins"/>
                <a:sym typeface="Poppins"/>
              </a:rPr>
              <a:t> c </a:t>
            </a:r>
            <a:r>
              <a:rPr lang="en-US" sz="2924" dirty="0" err="1">
                <a:solidFill>
                  <a:srgbClr val="FFFFFF"/>
                </a:solidFill>
                <a:latin typeface="Poppins"/>
                <a:ea typeface="Poppins"/>
                <a:cs typeface="Poppins"/>
                <a:sym typeface="Poppins"/>
              </a:rPr>
              <a:t>hnbv</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mhnbn</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nvblkjbkj</a:t>
            </a:r>
            <a:r>
              <a:rPr lang="en-US" sz="2924" dirty="0">
                <a:solidFill>
                  <a:srgbClr val="FFFFFF"/>
                </a:solidFill>
                <a:latin typeface="Poppins"/>
                <a:ea typeface="Poppins"/>
                <a:cs typeface="Poppins"/>
                <a:sym typeface="Poppins"/>
              </a:rPr>
              <a:t> </a:t>
            </a:r>
            <a:r>
              <a:rPr lang="en-US" sz="2924" dirty="0" err="1">
                <a:solidFill>
                  <a:srgbClr val="FFFFFF"/>
                </a:solidFill>
                <a:latin typeface="Poppins"/>
                <a:ea typeface="Poppins"/>
                <a:cs typeface="Poppins"/>
                <a:sym typeface="Poppins"/>
              </a:rPr>
              <a:t>jvbjkb,mnhgjhgjhgjhgjhgbjhgbkjhrage</a:t>
            </a:r>
            <a:endParaRPr lang="en-US" sz="2924" dirty="0">
              <a:solidFill>
                <a:srgbClr val="FFFFFF"/>
              </a:solidFill>
              <a:latin typeface="Poppins"/>
              <a:ea typeface="Poppins"/>
              <a:cs typeface="Poppins"/>
              <a:sym typeface="Poppins"/>
            </a:endParaRPr>
          </a:p>
          <a:p>
            <a:pPr algn="l"/>
            <a:endParaRPr lang="en-US" sz="2924" dirty="0">
              <a:solidFill>
                <a:srgbClr val="FFFFFF"/>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8755810" cy="10287000"/>
            <a:chOff x="0" y="0"/>
            <a:chExt cx="1356504" cy="1593725"/>
          </a:xfrm>
        </p:grpSpPr>
        <p:sp>
          <p:nvSpPr>
            <p:cNvPr id="3" name="Freeform 3"/>
            <p:cNvSpPr/>
            <p:nvPr/>
          </p:nvSpPr>
          <p:spPr>
            <a:xfrm>
              <a:off x="0" y="0"/>
              <a:ext cx="1356504" cy="1593725"/>
            </a:xfrm>
            <a:custGeom>
              <a:avLst/>
              <a:gdLst/>
              <a:ahLst/>
              <a:cxnLst/>
              <a:rect l="l" t="t" r="r" b="b"/>
              <a:pathLst>
                <a:path w="1356504" h="1593725">
                  <a:moveTo>
                    <a:pt x="0" y="0"/>
                  </a:moveTo>
                  <a:lnTo>
                    <a:pt x="1356504" y="0"/>
                  </a:lnTo>
                  <a:lnTo>
                    <a:pt x="1356504" y="1593725"/>
                  </a:lnTo>
                  <a:lnTo>
                    <a:pt x="0" y="1593725"/>
                  </a:lnTo>
                  <a:close/>
                </a:path>
              </a:pathLst>
            </a:custGeom>
            <a:blipFill>
              <a:blip r:embed="rId2"/>
              <a:stretch>
                <a:fillRect t="-13778" b="-13778"/>
              </a:stretch>
            </a:blipFill>
          </p:spPr>
          <p:txBody>
            <a:bodyPr/>
            <a:lstStyle/>
            <a:p>
              <a:endParaRPr lang="ru-RU"/>
            </a:p>
          </p:txBody>
        </p:sp>
      </p:grpSp>
      <p:sp>
        <p:nvSpPr>
          <p:cNvPr id="5" name="TextBox 5"/>
          <p:cNvSpPr txBox="1"/>
          <p:nvPr/>
        </p:nvSpPr>
        <p:spPr>
          <a:xfrm>
            <a:off x="9564090" y="4076700"/>
            <a:ext cx="7779419" cy="5751190"/>
          </a:xfrm>
          <a:prstGeom prst="rect">
            <a:avLst/>
          </a:prstGeom>
        </p:spPr>
        <p:txBody>
          <a:bodyPr lIns="0" tIns="0" rIns="0" bIns="0" rtlCol="0" anchor="t">
            <a:spAutoFit/>
          </a:bodyPr>
          <a:lstStyle/>
          <a:p>
            <a:pPr algn="just">
              <a:lnSpc>
                <a:spcPts val="2986"/>
              </a:lnSpc>
            </a:pPr>
            <a:r>
              <a:rPr lang="en-US" sz="2132" dirty="0">
                <a:solidFill>
                  <a:srgbClr val="14190D"/>
                </a:solidFill>
                <a:latin typeface="Poppins"/>
                <a:ea typeface="Poppins"/>
                <a:cs typeface="Poppins"/>
                <a:sym typeface="Poppins"/>
              </a:rPr>
              <a:t>LOREM IPSUM IS SIMPLY DUMMY TEXT OF THE PRINTING AND TYPESETTING INDUSTRY. LOREM IPSUM HAS BEEN THE INDUSTRY'S STANDARD DUMMY TEXT EVER SINCE 1966, WHEN DESIGNERS AT LETRASET AND JAMES MOSLEY, THE LIBRARIAN AT ST BRIDE PRINTING LIBRARY, TOOK A 1914 CICERO TRANSLATION AND SCRAMBLED IT TO MAKE DUMMY TEXT FOR LETRASET'S BODY TYPE SHEETS</a:t>
            </a:r>
          </a:p>
          <a:p>
            <a:pPr algn="just">
              <a:lnSpc>
                <a:spcPts val="2986"/>
              </a:lnSpc>
            </a:pPr>
            <a:r>
              <a:rPr lang="en-US" sz="2132" dirty="0">
                <a:solidFill>
                  <a:srgbClr val="14190D"/>
                </a:solidFill>
                <a:latin typeface="Poppins"/>
                <a:ea typeface="Poppins"/>
                <a:cs typeface="Poppins"/>
                <a:sym typeface="Poppins"/>
              </a:rPr>
              <a:t>LOREM IPSUM IS SIMPLY DUMMY TEXT OF THE PRINTING AND TYPESETTING INDUSTRY. LOREM IPSUM HAS BEEN THE INDUSTRY'S STANDARD DUMMY TEXT EVER SINCE 1966, WHEN DESIGNERS AT LETRASET AND JAMES MOSLEY, THE LIBRARIAN AT ST BRIDE PRINTING LIBRARY, TOOK A 1914 CICERO TRANSLATION AND SCRAMBLED IT TO MAKE DUMMY TEXT FOR LETRASET'S BODY TYPE SHEETS</a:t>
            </a:r>
          </a:p>
          <a:p>
            <a:pPr algn="just">
              <a:lnSpc>
                <a:spcPts val="2986"/>
              </a:lnSpc>
            </a:pPr>
            <a:endParaRPr lang="en-US" sz="2132" dirty="0">
              <a:solidFill>
                <a:srgbClr val="14190D"/>
              </a:solidFill>
              <a:latin typeface="Poppins"/>
              <a:ea typeface="Poppins"/>
              <a:cs typeface="Poppins"/>
              <a:sym typeface="Poppins"/>
            </a:endParaRPr>
          </a:p>
        </p:txBody>
      </p:sp>
      <p:sp>
        <p:nvSpPr>
          <p:cNvPr id="6" name="TextBox 6"/>
          <p:cNvSpPr txBox="1"/>
          <p:nvPr/>
        </p:nvSpPr>
        <p:spPr>
          <a:xfrm>
            <a:off x="9532192" y="1259614"/>
            <a:ext cx="7779419" cy="738664"/>
          </a:xfrm>
          <a:prstGeom prst="rect">
            <a:avLst/>
          </a:prstGeom>
        </p:spPr>
        <p:txBody>
          <a:bodyPr wrap="square" lIns="0" tIns="0" rIns="0" bIns="0" rtlCol="0" anchor="t">
            <a:spAutoFit/>
          </a:bodyPr>
          <a:lstStyle/>
          <a:p>
            <a:pPr algn="r"/>
            <a:r>
              <a:rPr lang="en-US" sz="4800" b="1" dirty="0">
                <a:solidFill>
                  <a:srgbClr val="749835"/>
                </a:solidFill>
                <a:latin typeface="Bebas Neue Bold"/>
                <a:ea typeface="Bebas Neue Bold"/>
                <a:cs typeface="Bebas Neue Bold"/>
                <a:sym typeface="Bebas Neue Bold"/>
              </a:rPr>
              <a:t>Economic and Social Importance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76629"/>
        </a:solidFill>
        <a:effectLst/>
      </p:bgPr>
    </p:bg>
    <p:spTree>
      <p:nvGrpSpPr>
        <p:cNvPr id="1" name=""/>
        <p:cNvGrpSpPr/>
        <p:nvPr/>
      </p:nvGrpSpPr>
      <p:grpSpPr>
        <a:xfrm>
          <a:off x="0" y="0"/>
          <a:ext cx="0" cy="0"/>
          <a:chOff x="0" y="0"/>
          <a:chExt cx="0" cy="0"/>
        </a:xfrm>
      </p:grpSpPr>
      <p:sp>
        <p:nvSpPr>
          <p:cNvPr id="5" name="TextBox 5"/>
          <p:cNvSpPr txBox="1"/>
          <p:nvPr/>
        </p:nvSpPr>
        <p:spPr>
          <a:xfrm>
            <a:off x="4800600" y="3848100"/>
            <a:ext cx="9352654" cy="2708434"/>
          </a:xfrm>
          <a:prstGeom prst="rect">
            <a:avLst/>
          </a:prstGeom>
        </p:spPr>
        <p:txBody>
          <a:bodyPr lIns="0" tIns="0" rIns="0" bIns="0" rtlCol="0" anchor="t">
            <a:spAutoFit/>
          </a:bodyPr>
          <a:lstStyle/>
          <a:p>
            <a:pPr algn="ctr"/>
            <a:r>
              <a:rPr lang="en-US" sz="8800" b="1" dirty="0" err="1">
                <a:solidFill>
                  <a:schemeClr val="bg1"/>
                </a:solidFill>
                <a:latin typeface="Bebas Neue Bold"/>
                <a:ea typeface="Bebas Neue Bold"/>
                <a:cs typeface="Bebas Neue Bold"/>
                <a:sym typeface="Bebas Neue Bold"/>
              </a:rPr>
              <a:t>E’tiboringiz</a:t>
            </a:r>
            <a:r>
              <a:rPr lang="en-US" sz="8800" b="1" dirty="0">
                <a:solidFill>
                  <a:schemeClr val="bg1"/>
                </a:solidFill>
                <a:latin typeface="Bebas Neue Bold"/>
                <a:ea typeface="Bebas Neue Bold"/>
                <a:cs typeface="Bebas Neue Bold"/>
                <a:sym typeface="Bebas Neue Bold"/>
              </a:rPr>
              <a:t> </a:t>
            </a:r>
            <a:r>
              <a:rPr lang="en-US" sz="8800" b="1" dirty="0" err="1">
                <a:solidFill>
                  <a:schemeClr val="bg1"/>
                </a:solidFill>
                <a:latin typeface="Bebas Neue Bold"/>
                <a:ea typeface="Bebas Neue Bold"/>
                <a:cs typeface="Bebas Neue Bold"/>
                <a:sym typeface="Bebas Neue Bold"/>
              </a:rPr>
              <a:t>uchun</a:t>
            </a:r>
            <a:r>
              <a:rPr lang="en-US" sz="8800" b="1" dirty="0">
                <a:solidFill>
                  <a:schemeClr val="bg1"/>
                </a:solidFill>
                <a:latin typeface="Bebas Neue Bold"/>
                <a:ea typeface="Bebas Neue Bold"/>
                <a:cs typeface="Bebas Neue Bold"/>
                <a:sym typeface="Bebas Neue Bold"/>
              </a:rPr>
              <a:t> </a:t>
            </a:r>
            <a:r>
              <a:rPr lang="en-US" sz="8800" b="1" dirty="0" err="1">
                <a:solidFill>
                  <a:schemeClr val="bg1"/>
                </a:solidFill>
                <a:latin typeface="Bebas Neue Bold"/>
                <a:ea typeface="Bebas Neue Bold"/>
                <a:cs typeface="Bebas Neue Bold"/>
                <a:sym typeface="Bebas Neue Bold"/>
              </a:rPr>
              <a:t>rahmat</a:t>
            </a:r>
            <a:r>
              <a:rPr lang="en-US" sz="8800" b="1" dirty="0">
                <a:solidFill>
                  <a:schemeClr val="bg1"/>
                </a:solidFill>
                <a:latin typeface="Bebas Neue Bold"/>
                <a:ea typeface="Bebas Neue Bold"/>
                <a:cs typeface="Bebas Neue Bold"/>
                <a:sym typeface="Bebas Neue Bold"/>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TotalTime>
  <Words>564</Words>
  <Application>Microsoft Office PowerPoint</Application>
  <PresentationFormat>Произвольный</PresentationFormat>
  <Paragraphs>36</Paragraphs>
  <Slides>8</Slides>
  <Notes>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8</vt:i4>
      </vt:variant>
    </vt:vector>
  </HeadingPairs>
  <TitlesOfParts>
    <vt:vector size="15" baseType="lpstr">
      <vt:lpstr>Arial</vt:lpstr>
      <vt:lpstr>Poppins Semi-Bold</vt:lpstr>
      <vt:lpstr>Poppins Medium</vt:lpstr>
      <vt:lpstr>Calibri</vt:lpstr>
      <vt:lpstr>Bebas Neue Bold</vt:lpstr>
      <vt:lpstr>Poppins</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Brown Abstract Doodle Wood Board Group Project Presentation</dc:title>
  <cp:lastModifiedBy>Nodir Qarshiyev</cp:lastModifiedBy>
  <cp:revision>23</cp:revision>
  <dcterms:created xsi:type="dcterms:W3CDTF">2006-08-16T00:00:00Z</dcterms:created>
  <dcterms:modified xsi:type="dcterms:W3CDTF">2026-07-25T07:55:27Z</dcterms:modified>
  <dc:identifier>DAHCIl3asbU</dc:identifier>
</cp:coreProperties>
</file>