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4" r:id="rId5"/>
    <p:sldId id="345" r:id="rId6"/>
    <p:sldId id="347" r:id="rId7"/>
    <p:sldId id="348" r:id="rId8"/>
    <p:sldId id="349" r:id="rId9"/>
    <p:sldId id="350" r:id="rId10"/>
    <p:sldId id="351" r:id="rId11"/>
    <p:sldId id="356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807" autoAdjust="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82" d="100"/>
          <a:sy n="82" d="100"/>
        </p:scale>
        <p:origin x="393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9749AC55-7CDA-47B9-9DA5-E56B3FFAEE2F}" type="datetime1">
              <a:rPr lang="ru-RU" smtClean="0"/>
              <a:t>03.05.2026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7F75FB2-D12E-4669-8522-D3E2C7E6DC9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0E5C4B33-97B5-410B-BDF8-FEC3E280F575}" type="datetime1">
              <a:rPr lang="ru-RU" smtClean="0"/>
              <a:pPr/>
              <a:t>03.05.2026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D18E0B9-48E4-499D-93B2-B07D00395BA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 rtlCol="0">
            <a:normAutofit/>
          </a:bodyPr>
          <a:lstStyle>
            <a:lvl1pPr marL="0" indent="0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rtlCol="0" anchor="b">
            <a:normAutofit/>
          </a:bodyPr>
          <a:lstStyle>
            <a:lvl1pPr algn="r">
              <a:defRPr lang="ru-RU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 rtlCol="0">
            <a:normAutofit/>
          </a:bodyPr>
          <a:lstStyle>
            <a:lvl1pPr>
              <a:defRPr lang="ru-RU"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buNone/>
              <a:defRPr lang="ru-RU" sz="1800"/>
            </a:lvl1pPr>
            <a:lvl2pPr marL="457200" indent="0">
              <a:lnSpc>
                <a:spcPct val="125000"/>
              </a:lnSpc>
              <a:buNone/>
              <a:defRPr lang="ru-RU" sz="1600"/>
            </a:lvl2pPr>
            <a:lvl3pPr marL="914400" indent="0">
              <a:lnSpc>
                <a:spcPct val="125000"/>
              </a:lnSpc>
              <a:buNone/>
              <a:defRPr lang="ru-RU" sz="1400"/>
            </a:lvl3pPr>
            <a:lvl4pPr marL="1371600" indent="0">
              <a:lnSpc>
                <a:spcPct val="125000"/>
              </a:lnSpc>
              <a:buNone/>
              <a:defRPr lang="ru-RU" sz="1200"/>
            </a:lvl4pPr>
            <a:lvl5pPr marL="1828800" indent="0">
              <a:lnSpc>
                <a:spcPct val="125000"/>
              </a:lnSpc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 rtlCol="0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текст и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rtlCol="0" anchor="b"/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ru-RU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ru-RU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ru-RU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Рамка 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rtlCol="0"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Рамка 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ru-RU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ru-RU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ru-RU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мка 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 b="1"/>
            </a:lvl1pPr>
            <a:lvl2pPr>
              <a:spcBef>
                <a:spcPts val="1000"/>
              </a:spcBef>
              <a:spcAft>
                <a:spcPts val="1200"/>
              </a:spcAft>
              <a:defRPr lang="ru-RU" sz="1600" b="1"/>
            </a:lvl2pPr>
            <a:lvl3pPr>
              <a:spcBef>
                <a:spcPts val="1000"/>
              </a:spcBef>
              <a:spcAft>
                <a:spcPts val="1200"/>
              </a:spcAft>
              <a:defRPr lang="ru-RU" sz="1400" b="1"/>
            </a:lvl3pPr>
            <a:lvl4pPr>
              <a:spcBef>
                <a:spcPts val="1000"/>
              </a:spcBef>
              <a:spcAft>
                <a:spcPts val="1200"/>
              </a:spcAft>
              <a:defRPr lang="ru-RU" sz="1200" b="1"/>
            </a:lvl4pPr>
            <a:lvl5pPr>
              <a:spcBef>
                <a:spcPts val="1000"/>
              </a:spcBef>
              <a:spcAft>
                <a:spcPts val="1200"/>
              </a:spcAft>
              <a:defRPr lang="ru-RU" sz="1200" b="1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 rtlCol="0"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Рамка 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Заполнитель таблицы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lang="ru-RU"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lang="ru-RU"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lang="ru-RU"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lang="ru-RU"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lang="ru-RU" sz="1800" b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 b="1"/>
            </a:lvl1pPr>
            <a:lvl2pPr>
              <a:spcBef>
                <a:spcPts val="1000"/>
              </a:spcBef>
              <a:spcAft>
                <a:spcPts val="1200"/>
              </a:spcAft>
              <a:defRPr lang="ru-RU" sz="1600" b="1"/>
            </a:lvl2pPr>
            <a:lvl3pPr>
              <a:spcBef>
                <a:spcPts val="1000"/>
              </a:spcBef>
              <a:spcAft>
                <a:spcPts val="1200"/>
              </a:spcAft>
              <a:defRPr lang="ru-RU" sz="1400" b="1"/>
            </a:lvl3pPr>
            <a:lvl4pPr>
              <a:spcBef>
                <a:spcPts val="1000"/>
              </a:spcBef>
              <a:spcAft>
                <a:spcPts val="1200"/>
              </a:spcAft>
              <a:defRPr lang="ru-RU" sz="1200" b="1"/>
            </a:lvl4pPr>
            <a:lvl5pPr>
              <a:spcBef>
                <a:spcPts val="1000"/>
              </a:spcBef>
              <a:spcAft>
                <a:spcPts val="1200"/>
              </a:spcAft>
              <a:defRPr lang="ru-RU" sz="1200" b="1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 rtlCol="0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457200" indent="0">
              <a:spcBef>
                <a:spcPts val="1000"/>
              </a:spcBef>
              <a:buNone/>
              <a:defRPr lang="ru-RU" sz="1600"/>
            </a:lvl2pPr>
            <a:lvl3pPr marL="914400" indent="0">
              <a:spcBef>
                <a:spcPts val="1000"/>
              </a:spcBef>
              <a:buNone/>
              <a:defRPr lang="ru-RU" sz="1400"/>
            </a:lvl3pPr>
            <a:lvl4pPr marL="1371600" indent="0">
              <a:spcBef>
                <a:spcPts val="1000"/>
              </a:spcBef>
              <a:buNone/>
              <a:defRPr lang="ru-RU" sz="1200"/>
            </a:lvl4pPr>
            <a:lvl5pPr marL="1828800" indent="0">
              <a:spcBef>
                <a:spcPts val="100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Группа растений в горшках">
            <a:extLst>
              <a:ext uri="{FF2B5EF4-FFF2-40B4-BE49-F238E27FC236}">
                <a16:creationId xmlns:a16="http://schemas.microsoft.com/office/drawing/2014/main" id="{C5E399AE-C2DC-0BE4-A179-9A726D23FF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" r="15"/>
          <a:stretch/>
        </p:blipFill>
        <p:spPr>
          <a:xfrm>
            <a:off x="458788" y="457200"/>
            <a:ext cx="11274425" cy="59436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26ABF06-5491-8319-408F-AC9C03E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72" y="612475"/>
            <a:ext cx="11060860" cy="3079029"/>
          </a:xfrm>
        </p:spPr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ru-RU" dirty="0">
                <a:solidFill>
                  <a:schemeClr val="tx1"/>
                </a:solidFill>
              </a:rPr>
              <a:t>Набор слайдов для презентации</a:t>
            </a:r>
          </a:p>
        </p:txBody>
      </p:sp>
      <p:sp>
        <p:nvSpPr>
          <p:cNvPr id="2" name="Объект 27">
            <a:extLst>
              <a:ext uri="{FF2B5EF4-FFF2-40B4-BE49-F238E27FC236}">
                <a16:creationId xmlns:a16="http://schemas.microsoft.com/office/drawing/2014/main" id="{0EADEA35-A57E-DE77-71B3-D368C877E950}"/>
              </a:ext>
            </a:extLst>
          </p:cNvPr>
          <p:cNvSpPr txBox="1">
            <a:spLocks/>
          </p:cNvSpPr>
          <p:nvPr/>
        </p:nvSpPr>
        <p:spPr>
          <a:xfrm>
            <a:off x="8068234" y="4616824"/>
            <a:ext cx="3664977" cy="1387736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FISH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6266329" cy="900056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en-US" dirty="0"/>
              <a:t>Reja: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438400"/>
            <a:ext cx="10360025" cy="35052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342900" indent="-342900" rtl="0">
              <a:buFont typeface="+mj-lt"/>
              <a:buAutoNum type="arabicPeriod"/>
            </a:pPr>
            <a:r>
              <a:rPr lang="ru-RU" sz="2400" dirty="0"/>
              <a:t>В компании </a:t>
            </a:r>
            <a:r>
              <a:rPr lang="ru-RU" sz="2400" dirty="0" err="1"/>
              <a:t>Contoso</a:t>
            </a:r>
            <a:r>
              <a:rPr lang="ru-RU" sz="2400" dirty="0"/>
              <a:t> мы расширяем возможности совместного формирования идей для внедрения инноваций на рабочем месте.</a:t>
            </a:r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1905908-61C5-E80D-F570-D84DB752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53440"/>
            <a:ext cx="4802373" cy="152220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Обзор продукта</a:t>
            </a:r>
          </a:p>
        </p:txBody>
      </p:sp>
      <p:sp>
        <p:nvSpPr>
          <p:cNvPr id="28" name="Объект 27">
            <a:extLst>
              <a:ext uri="{FF2B5EF4-FFF2-40B4-BE49-F238E27FC236}">
                <a16:creationId xmlns:a16="http://schemas.microsoft.com/office/drawing/2014/main" id="{7CC1959B-E6A9-5770-EC41-43538A9E36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832847"/>
            <a:ext cx="4802735" cy="317171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Первый прекрасно оформленный продукт с отличным стилем и функционалом</a:t>
            </a:r>
          </a:p>
        </p:txBody>
      </p:sp>
      <p:pic>
        <p:nvPicPr>
          <p:cNvPr id="20" name="Рисунок 19" descr="Группа людей смотрит на экран компьютера">
            <a:extLst>
              <a:ext uri="{FF2B5EF4-FFF2-40B4-BE49-F238E27FC236}">
                <a16:creationId xmlns:a16="http://schemas.microsoft.com/office/drawing/2014/main" id="{3F8EC18D-03A7-9C7B-E8C4-34A8973C74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6" r="16"/>
          <a:stretch/>
        </p:blipFill>
        <p:spPr>
          <a:xfrm>
            <a:off x="6478588" y="920750"/>
            <a:ext cx="5713412" cy="5029200"/>
          </a:xfrm>
        </p:spPr>
      </p:pic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20445"/>
            <a:ext cx="4114800" cy="5029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Проблема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C5F8EB2-8936-F0AC-DA2A-4A5609BEA7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75227" y="1020445"/>
            <a:ext cx="4802735" cy="5029200"/>
          </a:xfrm>
        </p:spPr>
        <p:txBody>
          <a:bodyPr rtlCol="0">
            <a:normAutofit fontScale="92500" lnSpcReduction="10000"/>
          </a:bodyPr>
          <a:lstStyle>
            <a:defPPr>
              <a:defRPr lang="ru-RU"/>
            </a:defPPr>
          </a:lstStyle>
          <a:p>
            <a:pPr rtl="0"/>
            <a:r>
              <a:rPr lang="ru-RU" b="1"/>
              <a:t>Пробел на рынке. </a:t>
            </a:r>
            <a:r>
              <a:rPr lang="ru-RU"/>
              <a:t>На рынке мало или вовсе нет продуктов, помогающих клиентам так, как наш</a:t>
            </a:r>
          </a:p>
          <a:p>
            <a:pPr rtl="0"/>
            <a:r>
              <a:rPr lang="ru-RU" b="1"/>
              <a:t>Клиенты: </a:t>
            </a:r>
            <a:r>
              <a:rPr lang="ru-RU"/>
              <a:t>66 % клиентов в России тратят деньги на различные продукты, которые лишь частично устраняют их проблемы</a:t>
            </a:r>
          </a:p>
          <a:p>
            <a:pPr rtl="0"/>
            <a:r>
              <a:rPr lang="ru-RU" b="1"/>
              <a:t>Финансовые показатели.</a:t>
            </a:r>
            <a:r>
              <a:rPr lang="ru-RU"/>
              <a:t> На долю поколения миллениалов приходится около четверти из 48 млрд рублей, потраченных на другие продукты в 2018 г.</a:t>
            </a:r>
          </a:p>
          <a:p>
            <a:pPr rtl="0"/>
            <a:r>
              <a:rPr lang="ru-RU" b="1"/>
              <a:t>Затраты. </a:t>
            </a:r>
            <a:r>
              <a:rPr lang="ru-RU"/>
              <a:t>Потеря производительности обходится клиентам в миллионы рублей </a:t>
            </a:r>
          </a:p>
          <a:p>
            <a:pPr rtl="0"/>
            <a:r>
              <a:rPr lang="ru-RU" b="1"/>
              <a:t>Удобство использования. </a:t>
            </a:r>
            <a:r>
              <a:rPr lang="ru-RU"/>
              <a:t>Клиентам нужен простой в использовании продукт, который упрощает жизнь </a:t>
            </a: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B0A9F6B-B714-24A4-1731-04239F0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0741"/>
            <a:ext cx="4802372" cy="1313541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Преимущества продукта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5F098455-F3AD-4CE1-6F83-28C95857EE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825239"/>
            <a:ext cx="4802735" cy="207264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1"/>
              <a:t>Переход от рынка до интернет-магазина</a:t>
            </a:r>
          </a:p>
        </p:txBody>
      </p:sp>
      <p:pic>
        <p:nvPicPr>
          <p:cNvPr id="15" name="Рисунок 6" descr="Человек держит растение">
            <a:extLst>
              <a:ext uri="{FF2B5EF4-FFF2-40B4-BE49-F238E27FC236}">
                <a16:creationId xmlns:a16="http://schemas.microsoft.com/office/drawing/2014/main" id="{AAA2A7D6-6F43-AFA1-3A7C-846D137112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2132" r="12132"/>
          <a:stretch/>
        </p:blipFill>
        <p:spPr>
          <a:xfrm>
            <a:off x="6478588" y="920750"/>
            <a:ext cx="5713412" cy="5029200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9652A1E-B3F7-E1B2-76ED-8F78E74B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Наши конкуренты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E65E832F-DC64-28CC-592D-2CA44C5718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4953001" cy="350043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1"/>
              <a:t>Стоимость нашего продукта ниже, чем у других компаний на рынке</a:t>
            </a:r>
          </a:p>
          <a:p>
            <a:pPr rtl="0"/>
            <a:r>
              <a:rPr lang="ru-RU" noProof="1"/>
              <a:t>Дизайн прост и удобен в использовании по сравнению со сложными дизайнами конкурентов</a:t>
            </a:r>
          </a:p>
          <a:p>
            <a:pPr rtl="0"/>
            <a:r>
              <a:rPr lang="ru-RU" noProof="1"/>
              <a:t>Доступность — это основное преимущество нашего продукта для клиентов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69CC98A-13B9-DAED-1898-4771587898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9360" y="2153285"/>
            <a:ext cx="5135880" cy="350043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1"/>
              <a:t>Продукт компании А стоит дороже</a:t>
            </a:r>
          </a:p>
          <a:p>
            <a:pPr rtl="0"/>
            <a:r>
              <a:rPr lang="ru-RU" noProof="1"/>
              <a:t>Продукт компаний Б и В дорогой и неудобный в использовании</a:t>
            </a:r>
          </a:p>
          <a:p>
            <a:pPr rtl="0"/>
            <a:r>
              <a:rPr lang="ru-RU" noProof="1"/>
              <a:t>Продукт компаний Г и Д доступен, но неудобен в использовании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Обзор продукта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93159D-E72A-4C5B-E9D2-18BA09A87C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1" y="2153285"/>
            <a:ext cx="3261359" cy="350043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Уникальный</a:t>
            </a:r>
          </a:p>
          <a:p>
            <a:pPr rtl="0"/>
            <a:r>
              <a:rPr lang="ru-RU" dirty="0"/>
              <a:t>Первый на рынке</a:t>
            </a:r>
          </a:p>
          <a:p>
            <a:pPr rtl="0"/>
            <a:r>
              <a:rPr lang="ru-RU" dirty="0"/>
              <a:t>Проверенный</a:t>
            </a:r>
          </a:p>
          <a:p>
            <a:pPr rtl="0"/>
            <a:r>
              <a:rPr lang="ru-RU" dirty="0"/>
              <a:t>Настоящий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351A4F1-ABAF-2D28-B31B-A6DC9942FA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80560" y="2153285"/>
            <a:ext cx="6964680" cy="350043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Единственный продукт, специально предназначенный для этого нишевого рынка</a:t>
            </a:r>
          </a:p>
          <a:p>
            <a:pPr rtl="0"/>
            <a:r>
              <a:rPr lang="ru-RU" dirty="0"/>
              <a:t>Первый прекрасно оформленный продукт с отличным стилем и функционалом</a:t>
            </a:r>
          </a:p>
          <a:p>
            <a:pPr rtl="0"/>
            <a:r>
              <a:rPr lang="ru-RU" dirty="0"/>
              <a:t>Проведено тестирование силами студентов из региона</a:t>
            </a:r>
          </a:p>
          <a:p>
            <a:pPr rtl="0"/>
            <a:r>
              <a:rPr lang="ru-RU" dirty="0"/>
              <a:t>Разработан с помощью специалистов в предметной области 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59" y="655320"/>
            <a:ext cx="10360511" cy="92246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D569DC-1A68-51FF-4CCE-F334F8B3D5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9159" y="2205318"/>
            <a:ext cx="10148254" cy="393640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Times New Roman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01_TF66722518_Win32" id="{19481458-DEDE-4A87-9D41-DF97F844F91A}" vid="{2922C838-1B9E-484A-BB33-8D809F3D59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{8A693660-D552-4579-9CD5-CAFF84285F70}TFceab9897-d767-4b88-b01c-396399362f8b077da4e8_win32-2876430750be</Template>
  <TotalTime>11</TotalTime>
  <Words>235</Words>
  <Application>Microsoft Office PowerPoint</Application>
  <PresentationFormat>Широкоэкранный</PresentationFormat>
  <Paragraphs>42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Source Sans Pro Light</vt:lpstr>
      <vt:lpstr>Times New Roman</vt:lpstr>
      <vt:lpstr>Пользовательская</vt:lpstr>
      <vt:lpstr>Набор слайдов для презентации</vt:lpstr>
      <vt:lpstr>Reja:</vt:lpstr>
      <vt:lpstr>Обзор продукта</vt:lpstr>
      <vt:lpstr>Проблема</vt:lpstr>
      <vt:lpstr>Преимущества продукта</vt:lpstr>
      <vt:lpstr>Наши конкуренты</vt:lpstr>
      <vt:lpstr>Обзор продукта 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Nodir Qarshiyev</dc:creator>
  <cp:lastModifiedBy>Nodir Qarshiyev</cp:lastModifiedBy>
  <cp:revision>2</cp:revision>
  <dcterms:created xsi:type="dcterms:W3CDTF">2026-05-02T21:51:38Z</dcterms:created>
  <dcterms:modified xsi:type="dcterms:W3CDTF">2026-05-02T23:15:38Z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