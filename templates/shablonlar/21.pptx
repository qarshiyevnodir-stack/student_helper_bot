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TI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60" r:id="rId4"/>
    <p:sldId id="261" r:id="rId5"/>
    <p:sldId id="262" r:id="rId6"/>
    <p:sldId id="265" r:id="rId7"/>
    <p:sldId id="264" r:id="rId8"/>
    <p:sldId id="268" r:id="rId9"/>
  </p:sldIdLst>
  <p:sldSz cx="18288000" cy="10287000"/>
  <p:notesSz cx="6858000" cy="9144000"/>
  <p:embeddedFontLst>
    <p:embeddedFont>
      <p:font typeface="Helvetica World" panose="020B0604020202020204" charset="-128"/>
      <p:regular r:id="rId10"/>
    </p:embeddedFont>
    <p:embeddedFont>
      <p:font typeface="Open Sans 1 Bold" panose="020B0604020202020204" charset="0"/>
      <p:regular r:id="rId11"/>
    </p:embeddedFont>
    <p:embeddedFont>
      <p:font typeface="Open Sans 2 Bold" panose="020B0604020202020204" charset="0"/>
      <p:regular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5" d="100"/>
          <a:sy n="45" d="100"/>
        </p:scale>
        <p:origin x="548" y="4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TIF"/><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TIF"/><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TIF"/><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TIF"/><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TIF"/><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TIF"/><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TIF"/><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TIF"/><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6"/>
          <p:cNvSpPr txBox="1"/>
          <p:nvPr/>
        </p:nvSpPr>
        <p:spPr>
          <a:xfrm>
            <a:off x="8784809" y="1181100"/>
            <a:ext cx="8817391" cy="738664"/>
          </a:xfrm>
          <a:prstGeom prst="rect">
            <a:avLst/>
          </a:prstGeom>
        </p:spPr>
        <p:txBody>
          <a:bodyPr wrap="square" lIns="0" tIns="0" rIns="0" bIns="0" rtlCol="0" anchor="t">
            <a:spAutoFit/>
          </a:bodyPr>
          <a:lstStyle/>
          <a:p>
            <a:pPr marL="0" lvl="0" indent="0" algn="l">
              <a:spcBef>
                <a:spcPct val="0"/>
              </a:spcBef>
            </a:pPr>
            <a:r>
              <a:rPr lang="en-US" sz="4800" b="1" u="none" strike="noStrike" dirty="0">
                <a:solidFill>
                  <a:srgbClr val="1C2143"/>
                </a:solidFill>
                <a:latin typeface="Open Sans 1 Bold"/>
                <a:ea typeface="Open Sans 1 Bold"/>
                <a:cs typeface="Open Sans 1 Bold"/>
                <a:sym typeface="Open Sans 1 Bold"/>
              </a:rPr>
              <a:t>Elements of Poetry</a:t>
            </a:r>
          </a:p>
        </p:txBody>
      </p:sp>
      <p:sp>
        <p:nvSpPr>
          <p:cNvPr id="8" name="TextBox 7">
            <a:extLst>
              <a:ext uri="{FF2B5EF4-FFF2-40B4-BE49-F238E27FC236}">
                <a16:creationId xmlns:a16="http://schemas.microsoft.com/office/drawing/2014/main" id="{552AC581-C714-F4DA-13B2-E86A037F88A5}"/>
              </a:ext>
            </a:extLst>
          </p:cNvPr>
          <p:cNvSpPr txBox="1"/>
          <p:nvPr/>
        </p:nvSpPr>
        <p:spPr>
          <a:xfrm>
            <a:off x="8784809" y="8398014"/>
            <a:ext cx="9144000" cy="707886"/>
          </a:xfrm>
          <a:prstGeom prst="rect">
            <a:avLst/>
          </a:prstGeom>
          <a:noFill/>
        </p:spPr>
        <p:txBody>
          <a:bodyPr wrap="square">
            <a:spAutoFit/>
          </a:bodyPr>
          <a:lstStyle/>
          <a:p>
            <a:r>
              <a:rPr lang="en-US" sz="2000" dirty="0">
                <a:solidFill>
                  <a:srgbClr val="1C2143"/>
                </a:solidFill>
                <a:latin typeface="Helvetica World"/>
                <a:ea typeface="Helvetica World"/>
                <a:cs typeface="Helvetica World"/>
                <a:sym typeface="Helvetica World"/>
              </a:rPr>
              <a:t>Poetry has an enduring appeal because of its unique ability to capture the human experience.</a:t>
            </a:r>
            <a:endParaRPr lang="ru-RU"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6"/>
          <p:cNvSpPr txBox="1"/>
          <p:nvPr/>
        </p:nvSpPr>
        <p:spPr>
          <a:xfrm>
            <a:off x="1028700" y="885825"/>
            <a:ext cx="7689630" cy="1203313"/>
          </a:xfrm>
          <a:prstGeom prst="rect">
            <a:avLst/>
          </a:prstGeom>
        </p:spPr>
        <p:txBody>
          <a:bodyPr lIns="0" tIns="0" rIns="0" bIns="0" rtlCol="0" anchor="t">
            <a:spAutoFit/>
          </a:bodyPr>
          <a:lstStyle/>
          <a:p>
            <a:pPr algn="ctr">
              <a:lnSpc>
                <a:spcPts val="9800"/>
              </a:lnSpc>
            </a:pPr>
            <a:r>
              <a:rPr lang="en-US" sz="7000" b="1" dirty="0" err="1">
                <a:solidFill>
                  <a:srgbClr val="1C2143"/>
                </a:solidFill>
                <a:latin typeface="Open Sans 1 Bold"/>
                <a:ea typeface="Open Sans 1 Bold"/>
                <a:cs typeface="Open Sans 1 Bold"/>
                <a:sym typeface="Open Sans 1 Bold"/>
              </a:rPr>
              <a:t>Reja</a:t>
            </a:r>
            <a:endParaRPr lang="en-US" sz="7000" b="1" dirty="0">
              <a:solidFill>
                <a:srgbClr val="1C2143"/>
              </a:solidFill>
              <a:latin typeface="Open Sans 1 Bold"/>
              <a:ea typeface="Open Sans 1 Bold"/>
              <a:cs typeface="Open Sans 1 Bold"/>
              <a:sym typeface="Open Sans 1 Bold"/>
            </a:endParaRPr>
          </a:p>
        </p:txBody>
      </p:sp>
      <p:sp>
        <p:nvSpPr>
          <p:cNvPr id="7" name="TextBox 7"/>
          <p:cNvSpPr txBox="1"/>
          <p:nvPr/>
        </p:nvSpPr>
        <p:spPr>
          <a:xfrm>
            <a:off x="1028700" y="3154039"/>
            <a:ext cx="8829557" cy="3725764"/>
          </a:xfrm>
          <a:prstGeom prst="rect">
            <a:avLst/>
          </a:prstGeom>
        </p:spPr>
        <p:txBody>
          <a:bodyPr lIns="0" tIns="0" rIns="0" bIns="0" rtlCol="0" anchor="t">
            <a:spAutoFit/>
          </a:bodyPr>
          <a:lstStyle/>
          <a:p>
            <a:pPr marL="514350" indent="-514350" algn="l">
              <a:lnSpc>
                <a:spcPts val="4199"/>
              </a:lnSpc>
              <a:buFont typeface="+mj-lt"/>
              <a:buAutoNum type="arabicPeriod"/>
            </a:pPr>
            <a:r>
              <a:rPr lang="en-US" sz="2799" dirty="0">
                <a:solidFill>
                  <a:srgbClr val="1C2143"/>
                </a:solidFill>
                <a:latin typeface="Helvetica World"/>
                <a:ea typeface="Helvetica World"/>
                <a:cs typeface="Helvetica World"/>
                <a:sym typeface="Helvetica World"/>
              </a:rPr>
              <a:t>Poetry is a type of literature that is </a:t>
            </a:r>
            <a:r>
              <a:rPr lang="en-US" sz="2799" dirty="0" err="1">
                <a:solidFill>
                  <a:srgbClr val="1C2143"/>
                </a:solidFill>
                <a:latin typeface="Helvetica World"/>
                <a:ea typeface="Helvetica World"/>
                <a:cs typeface="Helvetica World"/>
                <a:sym typeface="Helvetica World"/>
              </a:rPr>
              <a:t>characterised</a:t>
            </a:r>
            <a:r>
              <a:rPr lang="en-US" sz="2799" dirty="0">
                <a:solidFill>
                  <a:srgbClr val="1C2143"/>
                </a:solidFill>
                <a:latin typeface="Helvetica World"/>
                <a:ea typeface="Helvetica World"/>
                <a:cs typeface="Helvetica World"/>
                <a:sym typeface="Helvetica World"/>
              </a:rPr>
              <a:t> by language that evokes emotions and expresses complex ideas.</a:t>
            </a:r>
          </a:p>
          <a:p>
            <a:pPr marL="514350" indent="-514350" algn="l">
              <a:lnSpc>
                <a:spcPts val="4199"/>
              </a:lnSpc>
              <a:buFont typeface="+mj-lt"/>
              <a:buAutoNum type="arabicPeriod"/>
            </a:pPr>
            <a:r>
              <a:rPr lang="en-US" sz="2799" dirty="0">
                <a:solidFill>
                  <a:srgbClr val="1C2143"/>
                </a:solidFill>
                <a:latin typeface="Helvetica World"/>
                <a:ea typeface="Helvetica World"/>
                <a:cs typeface="Helvetica World"/>
                <a:sym typeface="Helvetica World"/>
              </a:rPr>
              <a:t>Poetry has been written across cultures and time periods throughout history. </a:t>
            </a:r>
          </a:p>
          <a:p>
            <a:pPr marL="514350" indent="-514350" algn="l">
              <a:lnSpc>
                <a:spcPts val="4199"/>
              </a:lnSpc>
              <a:buFont typeface="+mj-lt"/>
              <a:buAutoNum type="arabicPeriod"/>
            </a:pPr>
            <a:r>
              <a:rPr lang="en-US" sz="2799" dirty="0">
                <a:solidFill>
                  <a:srgbClr val="1C2143"/>
                </a:solidFill>
                <a:latin typeface="Helvetica World"/>
                <a:ea typeface="Helvetica World"/>
                <a:cs typeface="Helvetica World"/>
                <a:sym typeface="Helvetica World"/>
              </a:rPr>
              <a:t>Poetry has an enduring appeal because of its unique ability to capture the human experience.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extBox 5"/>
          <p:cNvSpPr txBox="1"/>
          <p:nvPr/>
        </p:nvSpPr>
        <p:spPr>
          <a:xfrm>
            <a:off x="3048000" y="885825"/>
            <a:ext cx="14211300" cy="677108"/>
          </a:xfrm>
          <a:prstGeom prst="rect">
            <a:avLst/>
          </a:prstGeom>
        </p:spPr>
        <p:txBody>
          <a:bodyPr wrap="square" lIns="0" tIns="0" rIns="0" bIns="0" rtlCol="0" anchor="t">
            <a:spAutoFit/>
          </a:bodyPr>
          <a:lstStyle/>
          <a:p>
            <a:pPr algn="r"/>
            <a:r>
              <a:rPr lang="en-US" sz="4400" b="1" dirty="0">
                <a:solidFill>
                  <a:srgbClr val="1C2143"/>
                </a:solidFill>
                <a:latin typeface="Open Sans 1 Bold"/>
                <a:ea typeface="Open Sans 1 Bold"/>
                <a:cs typeface="Open Sans 1 Bold"/>
                <a:sym typeface="Open Sans 1 Bold"/>
              </a:rPr>
              <a:t>Rhyme</a:t>
            </a:r>
          </a:p>
        </p:txBody>
      </p:sp>
      <p:sp>
        <p:nvSpPr>
          <p:cNvPr id="7" name="TextBox 7"/>
          <p:cNvSpPr txBox="1"/>
          <p:nvPr/>
        </p:nvSpPr>
        <p:spPr>
          <a:xfrm>
            <a:off x="9736790" y="4031317"/>
            <a:ext cx="7522510" cy="5341590"/>
          </a:xfrm>
          <a:prstGeom prst="rect">
            <a:avLst/>
          </a:prstGeom>
        </p:spPr>
        <p:txBody>
          <a:bodyPr lIns="0" tIns="0" rIns="0" bIns="0" rtlCol="0" anchor="t">
            <a:spAutoFit/>
          </a:bodyPr>
          <a:lstStyle/>
          <a:p>
            <a:pPr marL="0" lvl="0" indent="0" algn="l">
              <a:lnSpc>
                <a:spcPts val="4199"/>
              </a:lnSpc>
            </a:pPr>
            <a:r>
              <a:rPr lang="en-US" sz="2799" spc="-55" dirty="0">
                <a:solidFill>
                  <a:srgbClr val="1C2143"/>
                </a:solidFill>
                <a:latin typeface="Helvetica World"/>
                <a:ea typeface="Helvetica World"/>
                <a:cs typeface="Helvetica World"/>
                <a:sym typeface="Helvetica World"/>
              </a:rPr>
              <a:t>Rhyme is the similarity of sounds in the final stressed syllables (and sometimes preceding unstressed syllables) of two or more words. Although rhyming words are usually found at the end of lines in a poem, they can sometimes appear within lines. </a:t>
            </a:r>
          </a:p>
          <a:p>
            <a:pPr marL="0" lvl="0" indent="0" algn="l">
              <a:lnSpc>
                <a:spcPts val="4199"/>
              </a:lnSpc>
            </a:pPr>
            <a:r>
              <a:rPr lang="en-US" sz="2799" spc="-55" dirty="0">
                <a:solidFill>
                  <a:srgbClr val="1C2143"/>
                </a:solidFill>
                <a:latin typeface="Helvetica World"/>
                <a:ea typeface="Helvetica World"/>
                <a:cs typeface="Helvetica World"/>
                <a:sym typeface="Helvetica World"/>
              </a:rPr>
              <a:t>Rhyme creates connections between words and ideas. Rhyme schemes play a part in making the poem feel cohesive. It can also create a structure that reflects the themes of the poem.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extBox 5"/>
          <p:cNvSpPr txBox="1"/>
          <p:nvPr/>
        </p:nvSpPr>
        <p:spPr>
          <a:xfrm>
            <a:off x="1180498" y="885825"/>
            <a:ext cx="10554302" cy="677108"/>
          </a:xfrm>
          <a:prstGeom prst="rect">
            <a:avLst/>
          </a:prstGeom>
        </p:spPr>
        <p:txBody>
          <a:bodyPr wrap="square" lIns="0" tIns="0" rIns="0" bIns="0" rtlCol="0" anchor="t">
            <a:spAutoFit/>
          </a:bodyPr>
          <a:lstStyle/>
          <a:p>
            <a:pPr algn="l"/>
            <a:r>
              <a:rPr lang="en-US" sz="4400" b="1" dirty="0">
                <a:solidFill>
                  <a:srgbClr val="1C2143"/>
                </a:solidFill>
                <a:latin typeface="Open Sans 1 Bold"/>
                <a:ea typeface="Open Sans 1 Bold"/>
                <a:cs typeface="Open Sans 1 Bold"/>
                <a:sym typeface="Open Sans 1 Bold"/>
              </a:rPr>
              <a:t>Rhythm</a:t>
            </a:r>
          </a:p>
        </p:txBody>
      </p:sp>
      <p:sp>
        <p:nvSpPr>
          <p:cNvPr id="6" name="TextBox 6"/>
          <p:cNvSpPr txBox="1"/>
          <p:nvPr/>
        </p:nvSpPr>
        <p:spPr>
          <a:xfrm>
            <a:off x="1180498" y="3535710"/>
            <a:ext cx="7386033" cy="5341590"/>
          </a:xfrm>
          <a:prstGeom prst="rect">
            <a:avLst/>
          </a:prstGeom>
        </p:spPr>
        <p:txBody>
          <a:bodyPr lIns="0" tIns="0" rIns="0" bIns="0" rtlCol="0" anchor="t">
            <a:spAutoFit/>
          </a:bodyPr>
          <a:lstStyle/>
          <a:p>
            <a:pPr algn="l">
              <a:lnSpc>
                <a:spcPts val="4199"/>
              </a:lnSpc>
            </a:pPr>
            <a:r>
              <a:rPr lang="en-US" sz="2799" spc="-55" dirty="0">
                <a:solidFill>
                  <a:srgbClr val="1C2143"/>
                </a:solidFill>
                <a:latin typeface="Helvetica World"/>
                <a:ea typeface="Helvetica World"/>
                <a:cs typeface="Helvetica World"/>
                <a:sym typeface="Helvetica World"/>
              </a:rPr>
              <a:t>Rhythm in poetry refers to the pattern of stressed and unstressed syllables in a line of verse. It's like the heartbeat or pulse of the poem, and it is created through metrical patterns. Common meters include iambic pentameter and trochaic tetrameter. </a:t>
            </a:r>
          </a:p>
          <a:p>
            <a:pPr marL="0" lvl="0" indent="0" algn="l">
              <a:lnSpc>
                <a:spcPts val="4199"/>
              </a:lnSpc>
            </a:pPr>
            <a:r>
              <a:rPr lang="en-US" sz="2799" spc="-55" dirty="0">
                <a:solidFill>
                  <a:srgbClr val="1C2143"/>
                </a:solidFill>
                <a:latin typeface="Helvetica World"/>
                <a:ea typeface="Helvetica World"/>
                <a:cs typeface="Helvetica World"/>
                <a:sym typeface="Helvetica World"/>
              </a:rPr>
              <a:t>Rhythm conveys emotions and moods through the cadence and flow of words. Rhythm also helps structure the poem, providing a sense of order and </a:t>
            </a:r>
            <a:r>
              <a:rPr lang="en-US" sz="2799" spc="-55" dirty="0" err="1">
                <a:solidFill>
                  <a:srgbClr val="1C2143"/>
                </a:solidFill>
                <a:latin typeface="Helvetica World"/>
                <a:ea typeface="Helvetica World"/>
                <a:cs typeface="Helvetica World"/>
                <a:sym typeface="Helvetica World"/>
              </a:rPr>
              <a:t>organisation</a:t>
            </a:r>
            <a:r>
              <a:rPr lang="en-US" sz="2799" spc="-55" dirty="0">
                <a:solidFill>
                  <a:srgbClr val="1C2143"/>
                </a:solidFill>
                <a:latin typeface="Helvetica World"/>
                <a:ea typeface="Helvetica World"/>
                <a:cs typeface="Helvetica World"/>
                <a:sym typeface="Helvetica World"/>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extBox 5"/>
          <p:cNvSpPr txBox="1"/>
          <p:nvPr/>
        </p:nvSpPr>
        <p:spPr>
          <a:xfrm>
            <a:off x="4572000" y="1181100"/>
            <a:ext cx="11795390" cy="677108"/>
          </a:xfrm>
          <a:prstGeom prst="rect">
            <a:avLst/>
          </a:prstGeom>
        </p:spPr>
        <p:txBody>
          <a:bodyPr wrap="square" lIns="0" tIns="0" rIns="0" bIns="0" rtlCol="0" anchor="t">
            <a:spAutoFit/>
          </a:bodyPr>
          <a:lstStyle/>
          <a:p>
            <a:pPr marL="0" lvl="0" indent="0" algn="r">
              <a:spcBef>
                <a:spcPct val="0"/>
              </a:spcBef>
            </a:pPr>
            <a:r>
              <a:rPr lang="en-US" sz="4400" b="1" u="none" dirty="0">
                <a:solidFill>
                  <a:srgbClr val="1C2143"/>
                </a:solidFill>
                <a:latin typeface="Open Sans 2 Bold"/>
                <a:ea typeface="Open Sans 2 Bold"/>
                <a:cs typeface="Open Sans 2 Bold"/>
                <a:sym typeface="Open Sans 2 Bold"/>
              </a:rPr>
              <a:t>Sound Devices</a:t>
            </a:r>
          </a:p>
        </p:txBody>
      </p:sp>
      <p:sp>
        <p:nvSpPr>
          <p:cNvPr id="6" name="TextBox 6"/>
          <p:cNvSpPr txBox="1"/>
          <p:nvPr/>
        </p:nvSpPr>
        <p:spPr>
          <a:xfrm>
            <a:off x="8844880" y="3246286"/>
            <a:ext cx="8414420" cy="5939155"/>
          </a:xfrm>
          <a:prstGeom prst="rect">
            <a:avLst/>
          </a:prstGeom>
        </p:spPr>
        <p:txBody>
          <a:bodyPr lIns="0" tIns="0" rIns="0" bIns="0" rtlCol="0" anchor="t">
            <a:spAutoFit/>
          </a:bodyPr>
          <a:lstStyle/>
          <a:p>
            <a:pPr marL="0" lvl="0" indent="0" algn="l">
              <a:lnSpc>
                <a:spcPts val="3919"/>
              </a:lnSpc>
              <a:spcBef>
                <a:spcPct val="0"/>
              </a:spcBef>
            </a:pPr>
            <a:r>
              <a:rPr lang="en-US" sz="2799" u="none" dirty="0">
                <a:solidFill>
                  <a:srgbClr val="1C2143"/>
                </a:solidFill>
                <a:latin typeface="Helvetica World"/>
                <a:ea typeface="Helvetica World"/>
                <a:cs typeface="Helvetica World"/>
                <a:sym typeface="Helvetica World"/>
              </a:rPr>
              <a:t>Sound devices enrich the auditory aspect of poetry. Sound works together with the structure and other elements of the poem to create a coordinated meaning. Readers may also find that sound raises emotions. Common sound devices used in poetry include alliteration (repetition of consonant sounds at the beginning of words), assonance (repetition of vowel sounds within words), consonance (repetition of consonant sounds within words), and onomatopoeia (words that mimic sounds). Poets may use one or more of these devices to appeal to the reader's sense of hearing and develop the scene.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6"/>
          <p:cNvSpPr txBox="1"/>
          <p:nvPr/>
        </p:nvSpPr>
        <p:spPr>
          <a:xfrm>
            <a:off x="1028700" y="885825"/>
            <a:ext cx="14668500" cy="738664"/>
          </a:xfrm>
          <a:prstGeom prst="rect">
            <a:avLst/>
          </a:prstGeom>
        </p:spPr>
        <p:txBody>
          <a:bodyPr wrap="square" lIns="0" tIns="0" rIns="0" bIns="0" rtlCol="0" anchor="t">
            <a:spAutoFit/>
          </a:bodyPr>
          <a:lstStyle/>
          <a:p>
            <a:pPr algn="l"/>
            <a:r>
              <a:rPr lang="en-US" sz="4800" b="1" dirty="0">
                <a:solidFill>
                  <a:srgbClr val="1C2143"/>
                </a:solidFill>
                <a:latin typeface="Open Sans 1 Bold"/>
                <a:ea typeface="Open Sans 1 Bold"/>
                <a:cs typeface="Open Sans 1 Bold"/>
                <a:sym typeface="Open Sans 1 Bold"/>
              </a:rPr>
              <a:t>Symbolism</a:t>
            </a:r>
          </a:p>
        </p:txBody>
      </p:sp>
      <p:sp>
        <p:nvSpPr>
          <p:cNvPr id="7" name="TextBox 7"/>
          <p:cNvSpPr txBox="1"/>
          <p:nvPr/>
        </p:nvSpPr>
        <p:spPr>
          <a:xfrm>
            <a:off x="1027140" y="2868930"/>
            <a:ext cx="8560720" cy="5855970"/>
          </a:xfrm>
          <a:prstGeom prst="rect">
            <a:avLst/>
          </a:prstGeom>
        </p:spPr>
        <p:txBody>
          <a:bodyPr lIns="0" tIns="0" rIns="0" bIns="0" rtlCol="0" anchor="t">
            <a:spAutoFit/>
          </a:bodyPr>
          <a:lstStyle/>
          <a:p>
            <a:pPr algn="l">
              <a:lnSpc>
                <a:spcPts val="4200"/>
              </a:lnSpc>
            </a:pPr>
            <a:r>
              <a:rPr lang="en-US" sz="2800" dirty="0">
                <a:solidFill>
                  <a:srgbClr val="1C2143"/>
                </a:solidFill>
                <a:latin typeface="Helvetica World"/>
                <a:ea typeface="Helvetica World"/>
                <a:cs typeface="Helvetica World"/>
                <a:sym typeface="Helvetica World"/>
              </a:rPr>
              <a:t>Symbolism is a literary device that is frequently used in poetry. Poets may use an object, person, place, action, or word to represent something else. These are symbols. A symbol that is frequently used in poetry is the phoenix. In mythology, the phoenix is a bird that rises from its own ashes. When we encounter a phoenix in a poem, the poet is most likely using it to </a:t>
            </a:r>
            <a:r>
              <a:rPr lang="en-US" sz="2800" dirty="0" err="1">
                <a:solidFill>
                  <a:srgbClr val="1C2143"/>
                </a:solidFill>
                <a:latin typeface="Helvetica World"/>
                <a:ea typeface="Helvetica World"/>
                <a:cs typeface="Helvetica World"/>
                <a:sym typeface="Helvetica World"/>
              </a:rPr>
              <a:t>symbolise</a:t>
            </a:r>
            <a:r>
              <a:rPr lang="en-US" sz="2800" dirty="0">
                <a:solidFill>
                  <a:srgbClr val="1C2143"/>
                </a:solidFill>
                <a:latin typeface="Helvetica World"/>
                <a:ea typeface="Helvetica World"/>
                <a:cs typeface="Helvetica World"/>
                <a:sym typeface="Helvetica World"/>
              </a:rPr>
              <a:t> rebirth or renewal. Recognizing symbols is an important part of evaluating and understanding a poem’s meaning. When we see symbols repeated throughout a poem, these are called motifs.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6"/>
          <p:cNvSpPr txBox="1"/>
          <p:nvPr/>
        </p:nvSpPr>
        <p:spPr>
          <a:xfrm>
            <a:off x="8382000" y="647700"/>
            <a:ext cx="9044420" cy="677108"/>
          </a:xfrm>
          <a:prstGeom prst="rect">
            <a:avLst/>
          </a:prstGeom>
        </p:spPr>
        <p:txBody>
          <a:bodyPr wrap="square" lIns="0" tIns="0" rIns="0" bIns="0" rtlCol="0" anchor="t">
            <a:spAutoFit/>
          </a:bodyPr>
          <a:lstStyle/>
          <a:p>
            <a:pPr algn="l"/>
            <a:r>
              <a:rPr lang="en-US" sz="4400" b="1" dirty="0">
                <a:solidFill>
                  <a:srgbClr val="1C2143"/>
                </a:solidFill>
                <a:latin typeface="Open Sans 1 Bold"/>
                <a:ea typeface="Open Sans 1 Bold"/>
                <a:cs typeface="Open Sans 1 Bold"/>
                <a:sym typeface="Open Sans 1 Bold"/>
              </a:rPr>
              <a:t>Tone &amp; Mood</a:t>
            </a:r>
          </a:p>
        </p:txBody>
      </p:sp>
      <p:sp>
        <p:nvSpPr>
          <p:cNvPr id="7" name="TextBox 7"/>
          <p:cNvSpPr txBox="1"/>
          <p:nvPr/>
        </p:nvSpPr>
        <p:spPr>
          <a:xfrm>
            <a:off x="9736790" y="2792730"/>
            <a:ext cx="7522510" cy="6389370"/>
          </a:xfrm>
          <a:prstGeom prst="rect">
            <a:avLst/>
          </a:prstGeom>
        </p:spPr>
        <p:txBody>
          <a:bodyPr lIns="0" tIns="0" rIns="0" bIns="0" rtlCol="0" anchor="t">
            <a:spAutoFit/>
          </a:bodyPr>
          <a:lstStyle/>
          <a:p>
            <a:pPr algn="l">
              <a:lnSpc>
                <a:spcPts val="4200"/>
              </a:lnSpc>
            </a:pPr>
            <a:r>
              <a:rPr lang="en-US" sz="2800" dirty="0">
                <a:solidFill>
                  <a:srgbClr val="1C2143"/>
                </a:solidFill>
                <a:latin typeface="Helvetica World"/>
                <a:ea typeface="Helvetica World"/>
                <a:cs typeface="Helvetica World"/>
                <a:sym typeface="Helvetica World"/>
              </a:rPr>
              <a:t>Tone refers to the author's attitude toward the subject or audience of the poem. Look carefully at the poet's word choice and sentence structure to determine the tone in the poem.  For example, a poet may use very short sentences to express a tense tone. The poet may also choose a word with a negative connotation rather than a neutral one to express disapproval of the subject, or even of the audience. Mood is the feeling that the reader gets from the poem.  The poet’s tone plays a major role in creating the reader's mood.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6"/>
          <p:cNvSpPr txBox="1"/>
          <p:nvPr/>
        </p:nvSpPr>
        <p:spPr>
          <a:xfrm>
            <a:off x="9525000" y="3086100"/>
            <a:ext cx="7353949" cy="3539430"/>
          </a:xfrm>
          <a:prstGeom prst="rect">
            <a:avLst/>
          </a:prstGeom>
        </p:spPr>
        <p:txBody>
          <a:bodyPr lIns="0" tIns="0" rIns="0" bIns="0" rtlCol="0" anchor="t">
            <a:spAutoFit/>
          </a:bodyPr>
          <a:lstStyle/>
          <a:p>
            <a:pPr marL="0" lvl="0" indent="0" algn="ctr">
              <a:lnSpc>
                <a:spcPts val="9240"/>
              </a:lnSpc>
              <a:spcBef>
                <a:spcPct val="0"/>
              </a:spcBef>
            </a:pPr>
            <a:r>
              <a:rPr lang="en-US" sz="8400" b="1" dirty="0" err="1">
                <a:solidFill>
                  <a:srgbClr val="1C2143"/>
                </a:solidFill>
                <a:latin typeface="Open Sans 1 Bold"/>
                <a:ea typeface="Open Sans 1 Bold"/>
                <a:cs typeface="Open Sans 1 Bold"/>
                <a:sym typeface="Open Sans 1 Bold"/>
              </a:rPr>
              <a:t>E’tiboringiz</a:t>
            </a:r>
            <a:r>
              <a:rPr lang="en-US" sz="8400" b="1" dirty="0">
                <a:solidFill>
                  <a:srgbClr val="1C2143"/>
                </a:solidFill>
                <a:latin typeface="Open Sans 1 Bold"/>
                <a:ea typeface="Open Sans 1 Bold"/>
                <a:cs typeface="Open Sans 1 Bold"/>
                <a:sym typeface="Open Sans 1 Bold"/>
              </a:rPr>
              <a:t> </a:t>
            </a:r>
            <a:r>
              <a:rPr lang="en-US" sz="8400" b="1" dirty="0" err="1">
                <a:solidFill>
                  <a:srgbClr val="1C2143"/>
                </a:solidFill>
                <a:latin typeface="Open Sans 1 Bold"/>
                <a:ea typeface="Open Sans 1 Bold"/>
                <a:cs typeface="Open Sans 1 Bold"/>
                <a:sym typeface="Open Sans 1 Bold"/>
              </a:rPr>
              <a:t>uchun</a:t>
            </a:r>
            <a:r>
              <a:rPr lang="en-US" sz="8400" b="1" dirty="0">
                <a:solidFill>
                  <a:srgbClr val="1C2143"/>
                </a:solidFill>
                <a:latin typeface="Open Sans 1 Bold"/>
                <a:ea typeface="Open Sans 1 Bold"/>
                <a:cs typeface="Open Sans 1 Bold"/>
                <a:sym typeface="Open Sans 1 Bold"/>
              </a:rPr>
              <a:t> </a:t>
            </a:r>
            <a:r>
              <a:rPr lang="en-US" sz="8400" b="1" dirty="0" err="1">
                <a:solidFill>
                  <a:srgbClr val="1C2143"/>
                </a:solidFill>
                <a:latin typeface="Open Sans 1 Bold"/>
                <a:ea typeface="Open Sans 1 Bold"/>
                <a:cs typeface="Open Sans 1 Bold"/>
                <a:sym typeface="Open Sans 1 Bold"/>
              </a:rPr>
              <a:t>rahmat</a:t>
            </a:r>
            <a:r>
              <a:rPr lang="en-US" sz="8400" b="1" dirty="0">
                <a:solidFill>
                  <a:srgbClr val="1C2143"/>
                </a:solidFill>
                <a:latin typeface="Open Sans 1 Bold"/>
                <a:ea typeface="Open Sans 1 Bold"/>
                <a:cs typeface="Open Sans 1 Bold"/>
                <a:sym typeface="Open Sans 1 Bold"/>
              </a:rP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TotalTime>
  <Words>550</Words>
  <Application>Microsoft Office PowerPoint</Application>
  <PresentationFormat>Произвольный</PresentationFormat>
  <Paragraphs>19</Paragraphs>
  <Slides>8</Slides>
  <Notes>0</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8</vt:i4>
      </vt:variant>
    </vt:vector>
  </HeadingPairs>
  <TitlesOfParts>
    <vt:vector size="14" baseType="lpstr">
      <vt:lpstr>Open Sans 2 Bold</vt:lpstr>
      <vt:lpstr>Arial</vt:lpstr>
      <vt:lpstr>Helvetica World</vt:lpstr>
      <vt:lpstr>Calibri</vt:lpstr>
      <vt:lpstr>Open Sans 1 Bold</vt:lpstr>
      <vt:lpstr>Office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Brown Abstract Doodle Wood Board Group Project Presentation</dc:title>
  <cp:lastModifiedBy>Nodir Qarshiyev</cp:lastModifiedBy>
  <cp:revision>14</cp:revision>
  <dcterms:created xsi:type="dcterms:W3CDTF">2006-08-16T00:00:00Z</dcterms:created>
  <dcterms:modified xsi:type="dcterms:W3CDTF">2026-07-25T14:52:28Z</dcterms:modified>
  <dc:identifier>DAHCIl3asbU</dc:identifier>
</cp:coreProperties>
</file>