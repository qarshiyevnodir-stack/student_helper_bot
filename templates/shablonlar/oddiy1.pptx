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64" r:id="rId5"/>
    <p:sldId id="260" r:id="rId6"/>
    <p:sldId id="261" r:id="rId7"/>
    <p:sldId id="263" r:id="rId8"/>
    <p:sldId id="262" r:id="rId9"/>
  </p:sldIdLst>
  <p:sldSz cx="12192000" cy="6858000"/>
  <p:notesSz cx="6858000" cy="9144000"/>
  <p:embeddedFontLst>
    <p:embeddedFont>
      <p:font typeface="Lato" panose="020F0502020204030203" pitchFamily="34" charset="0"/>
      <p:regular r:id="rId11"/>
      <p:bold r:id="rId12"/>
      <p:italic r:id="rId13"/>
      <p:boldItalic r:id="rId14"/>
    </p:embeddedFont>
    <p:embeddedFont>
      <p:font typeface="Montserrat" panose="00000500000000000000" pitchFamily="2" charset="-52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G_S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BG_S1"/>
          <p:cNvPicPr preferRelativeResize="0">
            <a:picLocks noGrp="1" noRot="1" noChangeAspect="1" noMove="1" noResize="1" noEditPoints="1" noAdjustHandles="1" noChangeArrowheads="1" noChangeShapeType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G_S2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BG_S2"/>
          <p:cNvPicPr preferRelativeResize="0">
            <a:picLocks noGrp="1" noRot="1" noChangeAspect="1" noMove="1" noResize="1" noEditPoints="1" noAdjustHandles="1" noChangeArrowheads="1" noChangeShapeType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G_S3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BG_S3"/>
          <p:cNvPicPr preferRelativeResize="0">
            <a:picLocks noGrp="1" noRot="1" noChangeAspect="1" noMove="1" noResize="1" noEditPoints="1" noAdjustHandles="1" noChangeArrowheads="1" noChangeShapeType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G_S5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BG_S5"/>
          <p:cNvPicPr preferRelativeResize="0">
            <a:picLocks noGrp="1" noRot="1" noChangeAspect="1" noMove="1" noResize="1" noEditPoints="1" noAdjustHandles="1" noChangeArrowheads="1" noChangeShapeType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G_S6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BG_S6"/>
          <p:cNvPicPr preferRelativeResize="0">
            <a:picLocks noGrp="1" noRot="1" noChangeAspect="1" noMove="1" noResize="1" noEditPoints="1" noAdjustHandles="1" noChangeArrowheads="1" noChangeShapeType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BG_S7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BG_S7"/>
          <p:cNvPicPr preferRelativeResize="0">
            <a:picLocks noGrp="1" noRot="1" noChangeAspect="1" noMove="1" noResize="1" noEditPoints="1" noAdjustHandles="1" noChangeArrowheads="1" noChangeShapeType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G_S8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BG_S8"/>
          <p:cNvPicPr preferRelativeResize="0">
            <a:picLocks noGrp="1" noRot="1" noChangeAspect="1" noMove="1" noResize="1" noEditPoints="1" noAdjustHandles="1" noChangeArrowheads="1" noChangeShapeType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/>
        </p:nvSpPr>
        <p:spPr>
          <a:xfrm>
            <a:off x="1471612" y="747713"/>
            <a:ext cx="9001125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Korporativ</a:t>
            </a:r>
            <a:r>
              <a:rPr lang="en-US" sz="54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5400" b="1" i="0" u="none" strike="noStrike" cap="none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Samaradorlikni</a:t>
            </a:r>
            <a:r>
              <a:rPr lang="en-US" sz="54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5400" b="1" i="0" u="none" strike="noStrike" cap="none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Oshirish</a:t>
            </a:r>
            <a:r>
              <a:rPr lang="en-US" sz="54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5400" b="1" i="0" u="none" strike="noStrike" cap="none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Strategiyasi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1881187" y="5877052"/>
            <a:ext cx="8572500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fish</a:t>
            </a:r>
            <a:endParaRPr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1809511" y="852488"/>
            <a:ext cx="7810976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003366"/>
                </a:solidFill>
                <a:latin typeface="Montserrat"/>
                <a:ea typeface="Montserrat"/>
                <a:cs typeface="Montserrat"/>
                <a:sym typeface="Montserrat"/>
              </a:rPr>
              <a:t>Reja: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1376362" y="1962150"/>
            <a:ext cx="8244125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Global </a:t>
            </a:r>
            <a:r>
              <a:rPr lang="en-US" sz="2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trendlar</a:t>
            </a:r>
            <a:r>
              <a:rPr lang="en-US" sz="2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va</a:t>
            </a:r>
            <a:r>
              <a:rPr lang="en-US" sz="2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makroiqtisodiy</a:t>
            </a:r>
            <a:r>
              <a:rPr lang="en-US" sz="2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ta'sir</a:t>
            </a:r>
            <a:r>
              <a:rPr lang="en-US" sz="2800" b="0" i="0" u="none" strike="noStrike" cap="none" dirty="0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b="0" i="0" u="none" strike="noStrike" cap="none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ko'rsatkichlari</a:t>
            </a:r>
            <a:endParaRPr lang="en-US" sz="2800" b="0" i="0" u="none" strike="noStrike" cap="none" dirty="0">
              <a:solidFill>
                <a:srgbClr val="64748B"/>
              </a:solidFill>
              <a:latin typeface="Lato"/>
              <a:ea typeface="Lato"/>
              <a:cs typeface="Lato"/>
              <a:sym typeface="Lato"/>
            </a:endParaRPr>
          </a:p>
          <a:p>
            <a:pPr marL="342900" marR="0" lvl="0" indent="-342900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Kmlnk</a:t>
            </a:r>
            <a:endParaRPr lang="en-US" sz="2800" dirty="0">
              <a:solidFill>
                <a:srgbClr val="64748B"/>
              </a:solidFill>
              <a:latin typeface="Lato"/>
              <a:ea typeface="Lato"/>
              <a:cs typeface="Lato"/>
              <a:sym typeface="Lato"/>
            </a:endParaRPr>
          </a:p>
          <a:p>
            <a:pPr marL="342900" marR="0" lvl="0" indent="-342900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800" dirty="0" err="1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Dsdcv</a:t>
            </a:r>
            <a:endParaRPr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/>
        </p:nvSpPr>
        <p:spPr>
          <a:xfrm>
            <a:off x="666750" y="476250"/>
            <a:ext cx="11401425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003366"/>
                </a:solidFill>
                <a:latin typeface="Montserrat"/>
                <a:ea typeface="Montserrat"/>
                <a:cs typeface="Montserrat"/>
                <a:sym typeface="Montserrat"/>
              </a:rPr>
              <a:t>IJROCHI XULOSA (EXECUTIVE SUMMARY)</a:t>
            </a:r>
            <a:endParaRPr sz="1800" dirty="0"/>
          </a:p>
        </p:txBody>
      </p:sp>
      <p:sp>
        <p:nvSpPr>
          <p:cNvPr id="104" name="Google Shape;104;p15"/>
          <p:cNvSpPr txBox="1"/>
          <p:nvPr/>
        </p:nvSpPr>
        <p:spPr>
          <a:xfrm>
            <a:off x="666750" y="1685924"/>
            <a:ext cx="914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Bozordagi </a:t>
            </a:r>
            <a:r>
              <a:rPr lang="en-US" sz="1800" b="1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yetakchilik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Joriy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yilda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kompaniyamiz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asosiy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segmentlarda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12%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o'sishga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erishdi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bozor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ulushini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mustahkamladi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1600" dirty="0"/>
          </a:p>
        </p:txBody>
      </p:sp>
      <p:sp>
        <p:nvSpPr>
          <p:cNvPr id="106" name="Google Shape;106;p15"/>
          <p:cNvSpPr txBox="1"/>
          <p:nvPr/>
        </p:nvSpPr>
        <p:spPr>
          <a:xfrm>
            <a:off x="1981200" y="4629152"/>
            <a:ext cx="914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Strategik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ustuvorlik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2025-yilda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asosiy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e'tibor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global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ekspansiya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mijozlarga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yo'naltirilgan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innovatsiyalarga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qaratiladi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31A2AF-EED1-45CB-1481-B113C58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b="1" dirty="0">
                <a:solidFill>
                  <a:srgbClr val="003366"/>
                </a:solidFill>
                <a:latin typeface="Montserrat"/>
                <a:ea typeface="Montserrat"/>
                <a:cs typeface="Montserrat"/>
                <a:sym typeface="Montserrat"/>
              </a:rPr>
              <a:t>IJROCHI XULOSA (EXECUTIVE SUMMARY)</a:t>
            </a:r>
            <a:endParaRPr lang="ru-RU" sz="3200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F041492-2A69-862D-5B40-493977262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2000" b="1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Strategik</a:t>
            </a:r>
            <a:r>
              <a:rPr lang="en-US" sz="2000" b="1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b="1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ustuvorlik</a:t>
            </a:r>
            <a:r>
              <a:rPr lang="en-US" sz="2000" b="1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20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2025-yilda </a:t>
            </a:r>
            <a:r>
              <a:rPr lang="en-US" sz="20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asosiy</a:t>
            </a:r>
            <a:r>
              <a:rPr lang="en-US" sz="20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e'tibor</a:t>
            </a:r>
            <a:r>
              <a:rPr lang="en-US" sz="20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global </a:t>
            </a:r>
            <a:r>
              <a:rPr lang="en-US" sz="20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ekspansiya</a:t>
            </a:r>
            <a:r>
              <a:rPr lang="en-US" sz="20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va</a:t>
            </a:r>
            <a:r>
              <a:rPr lang="en-US" sz="20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mijozlarga</a:t>
            </a:r>
            <a:r>
              <a:rPr lang="en-US" sz="20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yo'naltirilgan</a:t>
            </a:r>
            <a:r>
              <a:rPr lang="en-US" sz="20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innovatsiyalarga</a:t>
            </a:r>
            <a:r>
              <a:rPr lang="en-US" sz="20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qaratiladi</a:t>
            </a:r>
            <a:r>
              <a:rPr lang="en-US" sz="20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lang="en-US" sz="2000" dirty="0"/>
          </a:p>
          <a:p>
            <a:pPr marL="0" indent="0">
              <a:spcBef>
                <a:spcPts val="0"/>
              </a:spcBef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668529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 txBox="1"/>
          <p:nvPr/>
        </p:nvSpPr>
        <p:spPr>
          <a:xfrm>
            <a:off x="666750" y="476250"/>
            <a:ext cx="11401425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003366"/>
                </a:solidFill>
                <a:latin typeface="Montserrat"/>
                <a:ea typeface="Montserrat"/>
                <a:cs typeface="Montserrat"/>
                <a:sym typeface="Montserrat"/>
              </a:rPr>
              <a:t>STRATEGIK QIYMAT USTUNLARI</a:t>
            </a:r>
            <a:endParaRPr sz="1800" dirty="0"/>
          </a:p>
        </p:txBody>
      </p:sp>
      <p:sp>
        <p:nvSpPr>
          <p:cNvPr id="133" name="Google Shape;133;p17"/>
          <p:cNvSpPr txBox="1"/>
          <p:nvPr/>
        </p:nvSpPr>
        <p:spPr>
          <a:xfrm>
            <a:off x="952500" y="2883693"/>
            <a:ext cx="28892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Yangi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bozor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segmentlariga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kirish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daromad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manbalarini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diversifikatsiya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qilish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1800" dirty="0"/>
          </a:p>
        </p:txBody>
      </p:sp>
      <p:sp>
        <p:nvSpPr>
          <p:cNvPr id="135" name="Google Shape;135;p17"/>
          <p:cNvSpPr txBox="1"/>
          <p:nvPr/>
        </p:nvSpPr>
        <p:spPr>
          <a:xfrm>
            <a:off x="4651325" y="2883693"/>
            <a:ext cx="28892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R&amp;D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investitsiyalarini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oshirish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sun'iy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intellekt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yechimlarini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joriy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etish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1600" dirty="0"/>
          </a:p>
        </p:txBody>
      </p:sp>
      <p:sp>
        <p:nvSpPr>
          <p:cNvPr id="137" name="Google Shape;137;p17"/>
          <p:cNvSpPr txBox="1"/>
          <p:nvPr/>
        </p:nvSpPr>
        <p:spPr>
          <a:xfrm>
            <a:off x="8350300" y="2883693"/>
            <a:ext cx="28892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Ekologik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ijtimoiy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mas'uliyat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standartlariga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to'liq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rioya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qilish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8"/>
          <p:cNvSpPr txBox="1"/>
          <p:nvPr/>
        </p:nvSpPr>
        <p:spPr>
          <a:xfrm>
            <a:off x="666750" y="476250"/>
            <a:ext cx="11401425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003366"/>
                </a:solidFill>
                <a:latin typeface="Montserrat"/>
                <a:ea typeface="Montserrat"/>
                <a:cs typeface="Montserrat"/>
                <a:sym typeface="Montserrat"/>
              </a:rPr>
              <a:t>MOLIYAVIY KO'RSATKICHLAR (MLN USD)</a:t>
            </a:r>
            <a:endParaRPr sz="1800" dirty="0"/>
          </a:p>
        </p:txBody>
      </p:sp>
      <p:sp>
        <p:nvSpPr>
          <p:cNvPr id="152" name="Google Shape;152;p18"/>
          <p:cNvSpPr txBox="1"/>
          <p:nvPr/>
        </p:nvSpPr>
        <p:spPr>
          <a:xfrm>
            <a:off x="866773" y="1834811"/>
            <a:ext cx="4320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Sotuv</a:t>
            </a:r>
            <a:r>
              <a:rPr lang="en-US" sz="1800" b="1" i="0" u="none" strike="noStrike" cap="none" dirty="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hajjkhfgk</a:t>
            </a:r>
            <a:r>
              <a:rPr lang="en-US" sz="1800" b="1" i="0" u="none" strike="noStrike" cap="none" dirty="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jhgbmi</a:t>
            </a:r>
            <a:endParaRPr sz="1800" dirty="0"/>
          </a:p>
        </p:txBody>
      </p:sp>
      <p:sp>
        <p:nvSpPr>
          <p:cNvPr id="154" name="Google Shape;154;p18"/>
          <p:cNvSpPr txBox="1"/>
          <p:nvPr/>
        </p:nvSpPr>
        <p:spPr>
          <a:xfrm>
            <a:off x="6562725" y="1834811"/>
            <a:ext cx="43200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Sof </a:t>
            </a:r>
            <a:r>
              <a:rPr lang="en-US" sz="1800" b="1" i="0" u="none" strike="noStrike" cap="none" dirty="0" err="1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fo</a:t>
            </a:r>
            <a:r>
              <a:rPr lang="en-US" sz="1800" b="1" i="0" u="none" strike="noStrike" cap="none" dirty="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jhgkujhhfgujhgukjj</a:t>
            </a:r>
            <a:r>
              <a:rPr lang="en-US" sz="1800" b="1" i="0" u="none" strike="noStrike" cap="none" dirty="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lh</a:t>
            </a:r>
            <a:r>
              <a:rPr lang="en-US" sz="1800" b="1" i="0" u="none" strike="noStrike" cap="none" dirty="0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003366"/>
                </a:solidFill>
                <a:latin typeface="Lato"/>
                <a:ea typeface="Lato"/>
                <a:cs typeface="Lato"/>
                <a:sym typeface="Lato"/>
              </a:rPr>
              <a:t>gukjyda</a:t>
            </a:r>
            <a:endParaRPr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DBD404-0A9C-E114-586A-ADF9D83C3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11525250" cy="1143000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3366"/>
                </a:solidFill>
                <a:latin typeface="Montserrat" panose="00000500000000000000" pitchFamily="2" charset="-52"/>
                <a:ea typeface="Lato"/>
                <a:cs typeface="Lato"/>
                <a:sym typeface="Lato"/>
              </a:rPr>
              <a:t>Sotuv</a:t>
            </a:r>
            <a:r>
              <a:rPr lang="en-US" sz="3200" b="1" dirty="0">
                <a:solidFill>
                  <a:srgbClr val="003366"/>
                </a:solidFill>
                <a:latin typeface="Montserrat" panose="00000500000000000000" pitchFamily="2" charset="-52"/>
                <a:ea typeface="Lato"/>
                <a:cs typeface="Lato"/>
                <a:sym typeface="Lato"/>
              </a:rPr>
              <a:t> </a:t>
            </a:r>
            <a:r>
              <a:rPr lang="en-US" sz="3200" b="1" dirty="0" err="1">
                <a:solidFill>
                  <a:srgbClr val="003366"/>
                </a:solidFill>
                <a:latin typeface="Montserrat" panose="00000500000000000000" pitchFamily="2" charset="-52"/>
                <a:ea typeface="Lato"/>
                <a:cs typeface="Lato"/>
                <a:sym typeface="Lato"/>
              </a:rPr>
              <a:t>hajmi</a:t>
            </a:r>
            <a:endParaRPr lang="ru-RU" sz="3200" dirty="0">
              <a:latin typeface="Montserrat" panose="00000500000000000000" pitchFamily="2" charset="-52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B184DE1-B091-D6F7-1E06-E4B9D0282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199" y="1600200"/>
            <a:ext cx="10448925" cy="4525963"/>
          </a:xfrm>
        </p:spPr>
        <p:txBody>
          <a:bodyPr>
            <a:normAutofit/>
          </a:bodyPr>
          <a:lstStyle/>
          <a:p>
            <a:pPr marL="0" lvl="0" indent="0">
              <a:spcBef>
                <a:spcPts val="0"/>
              </a:spcBef>
              <a:buNone/>
            </a:pPr>
            <a:r>
              <a:rPr lang="en-US" sz="1800" b="1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Bozordagi </a:t>
            </a:r>
            <a:r>
              <a:rPr lang="en-US" sz="1800" b="1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yetakchilik</a:t>
            </a:r>
            <a:r>
              <a:rPr lang="en-US" sz="1800" b="1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Joriy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yilda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kompaniyamiz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asosiy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segmentlarda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12%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o'sishga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erishdi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va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bozor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ulushini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800" dirty="0" err="1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mustahkamladi</a:t>
            </a:r>
            <a:r>
              <a:rPr lang="en-US" sz="1800" dirty="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92878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9"/>
          <p:cNvSpPr txBox="1"/>
          <p:nvPr/>
        </p:nvSpPr>
        <p:spPr>
          <a:xfrm>
            <a:off x="395287" y="2187063"/>
            <a:ext cx="11401425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 err="1">
                <a:solidFill>
                  <a:srgbClr val="003366"/>
                </a:solidFill>
                <a:latin typeface="Montserrat"/>
                <a:ea typeface="Montserrat"/>
                <a:cs typeface="Montserrat"/>
                <a:sym typeface="Montserrat"/>
              </a:rPr>
              <a:t>E’tiboringiz</a:t>
            </a:r>
            <a:endParaRPr lang="en-US" sz="4000" b="1" dirty="0">
              <a:solidFill>
                <a:srgbClr val="00336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003366"/>
                </a:solidFill>
                <a:latin typeface="Montserrat"/>
                <a:ea typeface="Montserrat"/>
                <a:cs typeface="Montserrat"/>
                <a:sym typeface="Montserrat"/>
              </a:rPr>
              <a:t>u</a:t>
            </a:r>
            <a:r>
              <a:rPr lang="en-US" sz="4000" b="1" i="0" u="none" strike="noStrike" cap="none">
                <a:solidFill>
                  <a:srgbClr val="003366"/>
                </a:solidFill>
                <a:latin typeface="Montserrat"/>
                <a:ea typeface="Montserrat"/>
                <a:cs typeface="Montserrat"/>
                <a:sym typeface="Montserrat"/>
              </a:rPr>
              <a:t>chun</a:t>
            </a:r>
            <a:endParaRPr lang="en-US" sz="4000" b="1" dirty="0">
              <a:solidFill>
                <a:srgbClr val="003366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 err="1">
                <a:solidFill>
                  <a:srgbClr val="003366"/>
                </a:solidFill>
                <a:latin typeface="Montserrat"/>
                <a:ea typeface="Montserrat"/>
                <a:cs typeface="Montserrat"/>
                <a:sym typeface="Montserrat"/>
              </a:rPr>
              <a:t>rahmat</a:t>
            </a:r>
            <a:r>
              <a:rPr lang="en-US" sz="4000" b="1" i="0" u="none" strike="noStrike" cap="none" dirty="0">
                <a:solidFill>
                  <a:srgbClr val="003366"/>
                </a:solidFill>
                <a:latin typeface="Montserrat"/>
                <a:ea typeface="Montserrat"/>
                <a:cs typeface="Montserrat"/>
                <a:sym typeface="Montserrat"/>
              </a:rPr>
              <a:t>!</a:t>
            </a:r>
            <a:endParaRPr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143</Words>
  <Application>Microsoft Office PowerPoint</Application>
  <PresentationFormat>Широкоэкранный</PresentationFormat>
  <Paragraphs>23</Paragraphs>
  <Slides>8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Calibri</vt:lpstr>
      <vt:lpstr>Arial</vt:lpstr>
      <vt:lpstr>Montserrat</vt:lpstr>
      <vt:lpstr>Lato</vt:lpstr>
      <vt:lpstr>Office Theme</vt:lpstr>
      <vt:lpstr>Презентация PowerPoint</vt:lpstr>
      <vt:lpstr>Презентация PowerPoint</vt:lpstr>
      <vt:lpstr>Презентация PowerPoint</vt:lpstr>
      <vt:lpstr>IJROCHI XULOSA (EXECUTIVE SUMMARY)</vt:lpstr>
      <vt:lpstr>Презентация PowerPoint</vt:lpstr>
      <vt:lpstr>Презентация PowerPoint</vt:lpstr>
      <vt:lpstr>Sotuv hajmi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Nodir Qarshiyev</cp:lastModifiedBy>
  <cp:revision>14</cp:revision>
  <dcterms:modified xsi:type="dcterms:W3CDTF">2026-07-29T15:59:06Z</dcterms:modified>
</cp:coreProperties>
</file>