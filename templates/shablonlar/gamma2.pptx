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09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</p:sldIdLst>
  <p:sldSz cx="9144000" cy="5143500" type="screen16x9"/>
  <p:notesSz cx="5143500" cy="9144000"/>
  <p:embeddedFontLst>
    <p:embeddedFont>
      <p:font typeface="Neue Haas Grotesk Text Pro" panose="020B0504020202020204" pitchFamily="34" charset="0"/>
      <p:regular r:id="rId11"/>
      <p:bold r:id="rId12"/>
    </p:embeddedFont>
    <p:embeddedFont>
      <p:font typeface="Roboto" panose="02000000000000000000" pitchFamily="2" charset="0"/>
      <p:regular r:id="rId13"/>
      <p:bold r:id="rId14"/>
    </p:embeddedFont>
    <p:embeddedFont>
      <p:font typeface="Roboto Slab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059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82" y="72828"/>
            <a:ext cx="3100768" cy="24989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3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86" y="3369366"/>
            <a:ext cx="2512313" cy="105851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80410" y="0"/>
            <a:ext cx="5863590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484" y="4754028"/>
            <a:ext cx="164752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787752" y="4754028"/>
            <a:ext cx="1044434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832186" y="4756726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3742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5" y="1282397"/>
            <a:ext cx="8222742" cy="33853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435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4792" y="1058519"/>
            <a:ext cx="2916308" cy="213417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3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4791" y="3302279"/>
            <a:ext cx="2916308" cy="84234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20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5568204" cy="51435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84791" y="4757967"/>
            <a:ext cx="1575362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25890" y="4757967"/>
            <a:ext cx="1106372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2050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25462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86" y="857250"/>
            <a:ext cx="6512815" cy="23213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5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86" y="3374136"/>
            <a:ext cx="5161093" cy="7612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35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486" y="4757967"/>
            <a:ext cx="210405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66132" y="4757967"/>
            <a:ext cx="2156298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554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8" y="1401828"/>
            <a:ext cx="7002782" cy="3680197"/>
          </a:xfrm>
        </p:spPr>
        <p:txBody>
          <a:bodyPr>
            <a:normAutofit/>
          </a:bodyPr>
          <a:lstStyle>
            <a:lvl1pPr>
              <a:defRPr sz="555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486" y="103041"/>
            <a:ext cx="210405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0447" y="103041"/>
            <a:ext cx="1651983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3" y="103041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58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4" y="78897"/>
            <a:ext cx="6767671" cy="158504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485" y="1863191"/>
            <a:ext cx="6350669" cy="2654636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350"/>
            </a:lvl1pPr>
            <a:lvl2pPr marL="514350" indent="-342900">
              <a:buFont typeface="+mj-lt"/>
              <a:buAutoNum type="arabicPeriod"/>
              <a:defRPr sz="1200"/>
            </a:lvl2pPr>
            <a:lvl3pPr marL="600075" indent="-257175">
              <a:buFont typeface="+mj-lt"/>
              <a:buAutoNum type="arabicPeriod"/>
              <a:defRPr sz="1050"/>
            </a:lvl3pPr>
            <a:lvl4pPr marL="771525" indent="-257175">
              <a:buFont typeface="+mj-lt"/>
              <a:buAutoNum type="arabicPeriod"/>
              <a:defRPr sz="1050"/>
            </a:lvl4pPr>
            <a:lvl5pPr marL="942975" indent="-257175">
              <a:buFont typeface="+mj-lt"/>
              <a:buAutoNum type="arabicPeriod"/>
              <a:defRPr sz="105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77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0758" y="55306"/>
            <a:ext cx="5147622" cy="1665545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3424193" cy="51435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1" y="2044701"/>
            <a:ext cx="4437380" cy="2577592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500"/>
            </a:lvl1pPr>
            <a:lvl2pPr marL="428625" indent="-257175">
              <a:buFont typeface="+mj-lt"/>
              <a:buAutoNum type="arabicPeriod"/>
              <a:defRPr sz="1350"/>
            </a:lvl2pPr>
            <a:lvl3pPr marL="600075" indent="-257175">
              <a:buFont typeface="+mj-lt"/>
              <a:buAutoNum type="arabicPeriod"/>
              <a:defRPr sz="1200"/>
            </a:lvl3pPr>
            <a:lvl4pPr marL="771525" indent="-257175">
              <a:buFont typeface="+mj-lt"/>
              <a:buAutoNum type="arabicPeriod"/>
              <a:defRPr sz="1050"/>
            </a:lvl4pPr>
            <a:lvl5pPr>
              <a:buFont typeface="+mj-lt"/>
              <a:buAutoNum type="arabicPeriod"/>
              <a:defRPr sz="105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4757967"/>
            <a:ext cx="223905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51915" y="4757967"/>
            <a:ext cx="1164831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3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7937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09" y="1041525"/>
            <a:ext cx="2942591" cy="30626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67008" y="1041851"/>
            <a:ext cx="4534043" cy="306268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288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4" y="530662"/>
            <a:ext cx="2512316" cy="204108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875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86151" y="531138"/>
            <a:ext cx="5196077" cy="41361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158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7009" y="459486"/>
            <a:ext cx="4819792" cy="8572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420341" cy="51435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68027" y="1483866"/>
            <a:ext cx="4814201" cy="32141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67008" y="4757967"/>
            <a:ext cx="252367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773035" y="4757967"/>
            <a:ext cx="1545606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60323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542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126" y="355633"/>
            <a:ext cx="5212674" cy="69951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017520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4126" y="1220724"/>
            <a:ext cx="5212674" cy="35146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474126" y="4757967"/>
            <a:ext cx="256718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709275" y="4757967"/>
            <a:ext cx="1613155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60323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0646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5" y="356616"/>
            <a:ext cx="5143500" cy="69951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485" y="1220724"/>
            <a:ext cx="5143500" cy="34015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59486" y="4760153"/>
            <a:ext cx="210405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086890" y="4760153"/>
            <a:ext cx="2194190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281081" y="4760153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8800" y="0"/>
            <a:ext cx="3075200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943482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315467"/>
            <a:ext cx="3370642" cy="99441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2" y="1481328"/>
            <a:ext cx="3370547" cy="311771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582" y="4757967"/>
            <a:ext cx="1573965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0239" y="4757967"/>
            <a:ext cx="1179778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97494" y="4757967"/>
            <a:ext cx="321905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4196" y="0"/>
            <a:ext cx="4899804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830215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773" y="322326"/>
            <a:ext cx="2743200" cy="125042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867" y="1736677"/>
            <a:ext cx="2743200" cy="28611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1773" y="4757967"/>
            <a:ext cx="1228003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027585" y="4757967"/>
            <a:ext cx="712325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739910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71316" y="0"/>
            <a:ext cx="5472684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155510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6046" y="697166"/>
            <a:ext cx="2024441" cy="139420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875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244742" cy="51435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66791" y="2258501"/>
            <a:ext cx="2020010" cy="199218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71450" indent="0">
              <a:buNone/>
              <a:defRPr lang="en-US" dirty="0"/>
            </a:lvl2pPr>
            <a:lvl3pPr marL="342900" indent="0">
              <a:buNone/>
              <a:defRPr lang="en-US" dirty="0"/>
            </a:lvl3pPr>
            <a:lvl4pPr marL="514350" indent="0">
              <a:buNone/>
              <a:defRPr lang="en-US" dirty="0"/>
            </a:lvl4pPr>
            <a:lvl5pPr marL="685800" indent="0">
              <a:buNone/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66046" y="4757967"/>
            <a:ext cx="1053345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9392" y="4757967"/>
            <a:ext cx="64093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3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9025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4" y="3121738"/>
            <a:ext cx="2283716" cy="141960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875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9144000" cy="283370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1778" y="3121739"/>
            <a:ext cx="5595022" cy="15686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71450" indent="0">
              <a:buNone/>
              <a:defRPr lang="en-US" dirty="0"/>
            </a:lvl2pPr>
            <a:lvl3pPr marL="342900" indent="0">
              <a:buNone/>
              <a:defRPr lang="en-US" dirty="0"/>
            </a:lvl3pPr>
            <a:lvl4pPr marL="514350" indent="0">
              <a:buNone/>
              <a:defRPr lang="en-US" dirty="0"/>
            </a:lvl4pPr>
            <a:lvl5pPr marL="685800" indent="0">
              <a:buNone/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6743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9506"/>
            <a:ext cx="8227315" cy="69951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486" y="1434299"/>
            <a:ext cx="3477952" cy="31557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59485" y="4757967"/>
            <a:ext cx="198219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02916" y="1434704"/>
            <a:ext cx="4306494" cy="316825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64947" y="4757967"/>
            <a:ext cx="1087273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52220" y="4757967"/>
            <a:ext cx="33229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0898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30101"/>
            <a:ext cx="3504438" cy="952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0352" y="1630387"/>
            <a:ext cx="3423572" cy="297276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29172" y="549117"/>
            <a:ext cx="4257629" cy="405403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2174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70300"/>
            <a:ext cx="7321551" cy="794855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195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220" y="363071"/>
            <a:ext cx="7907274" cy="3402106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025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08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685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49" y="31751"/>
            <a:ext cx="8637779" cy="462915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171450" indent="0">
              <a:lnSpc>
                <a:spcPct val="90000"/>
              </a:lnSpc>
              <a:buNone/>
              <a:defRPr sz="5400" b="1"/>
            </a:lvl2pPr>
            <a:lvl3pPr marL="342900" indent="0">
              <a:lnSpc>
                <a:spcPct val="90000"/>
              </a:lnSpc>
              <a:buNone/>
              <a:defRPr sz="4950" b="1"/>
            </a:lvl3pPr>
            <a:lvl4pPr marL="514350" indent="0">
              <a:lnSpc>
                <a:spcPct val="90000"/>
              </a:lnSpc>
              <a:buNone/>
              <a:defRPr sz="4500" b="1"/>
            </a:lvl4pPr>
            <a:lvl5pPr marL="685800" indent="0">
              <a:lnSpc>
                <a:spcPct val="90000"/>
              </a:lnSpc>
              <a:buNone/>
              <a:defRPr sz="405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4712" y="3771900"/>
            <a:ext cx="6899148" cy="48006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5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24712" y="891540"/>
            <a:ext cx="6899148" cy="2499360"/>
          </a:xfrm>
        </p:spPr>
        <p:txBody>
          <a:bodyPr anchor="ctr">
            <a:normAutofit/>
          </a:bodyPr>
          <a:lstStyle>
            <a:lvl1pPr marL="123444" indent="-123444">
              <a:lnSpc>
                <a:spcPct val="100000"/>
              </a:lnSpc>
              <a:spcBef>
                <a:spcPts val="0"/>
              </a:spcBef>
              <a:buNone/>
              <a:defRPr sz="36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44611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384048"/>
            <a:ext cx="8055864" cy="72694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9581" y="1369219"/>
            <a:ext cx="380619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08923" y="1369219"/>
            <a:ext cx="3806428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9857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048"/>
            <a:ext cx="8059341" cy="72694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64301"/>
            <a:ext cx="380619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790700"/>
            <a:ext cx="3806429" cy="28396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0351" y="1264301"/>
            <a:ext cx="380619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09874" y="1790700"/>
            <a:ext cx="3806667" cy="28396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6482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384048"/>
            <a:ext cx="8222742" cy="72694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0184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59016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" y="67356"/>
            <a:ext cx="8596502" cy="188595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581" y="2339068"/>
            <a:ext cx="8222646" cy="1965552"/>
          </a:xfrm>
        </p:spPr>
        <p:txBody>
          <a:bodyPr/>
          <a:lstStyle>
            <a:lvl1pPr marL="0" indent="0">
              <a:buNone/>
              <a:defRPr/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336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1220489"/>
            <a:ext cx="6323075" cy="1381515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2" y="2717006"/>
            <a:ext cx="6322979" cy="1206006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171450" indent="0">
              <a:buNone/>
              <a:defRPr sz="1200"/>
            </a:lvl2pPr>
            <a:lvl3pPr marL="342900" indent="0">
              <a:buNone/>
              <a:defRPr sz="1050"/>
            </a:lvl3pPr>
            <a:lvl4pPr marL="514350" indent="0">
              <a:buNone/>
              <a:defRPr sz="1050"/>
            </a:lvl4pPr>
            <a:lvl5pPr marL="685800" indent="0">
              <a:buNone/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40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21036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385987"/>
            <a:ext cx="8222741" cy="7292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485" y="1282397"/>
            <a:ext cx="8222742" cy="3385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9486" y="4757967"/>
            <a:ext cx="21040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70447" y="4757967"/>
            <a:ext cx="16519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60323" y="4757967"/>
            <a:ext cx="32190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85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</p:sldLayoutIdLst>
  <p:hf sldNum="0" hdr="0" ftr="0" dt="0"/>
  <p:txStyles>
    <p:titleStyle>
      <a:lvl1pPr algn="l" defTabSz="685800" rtl="0" eaLnBrk="1" latinLnBrk="0" hangingPunct="1">
        <a:lnSpc>
          <a:spcPct val="95000"/>
        </a:lnSpc>
        <a:spcBef>
          <a:spcPct val="0"/>
        </a:spcBef>
        <a:buNone/>
        <a:defRPr sz="2100" b="1" kern="1200" spc="-23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7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392981"/>
            <a:ext cx="4722763" cy="305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Axborot makoni: Internet tarmoqlarida izlanish olamiga sayohat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496119" y="3662511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Bugungi kunda Internet biz uchun haqiqiy axborot makoniga aylangan. Bu nodir va serqirra olamda sayr qilishimiz uchun biz ma'lum bir ko'nikmalarga ega bo'lishimiz lozim.</a:t>
            </a:r>
            <a:endParaRPr lang="en-US" sz="11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A87F91D5-3783-4A17-01EF-008825387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16905" y="4003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REJA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1738179" y="1197590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1791347" y="122415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2198876" y="1202248"/>
            <a:ext cx="49639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Axborot makoni - bu axborotlarni yaratish, saqlash, tarqatish va foydalanish uchun yagona axborot muhitidir.</a:t>
            </a:r>
            <a:endParaRPr lang="en-US" sz="1400" b="1" dirty="0"/>
          </a:p>
        </p:txBody>
      </p:sp>
      <p:sp>
        <p:nvSpPr>
          <p:cNvPr id="8" name="Shape 5"/>
          <p:cNvSpPr/>
          <p:nvPr/>
        </p:nvSpPr>
        <p:spPr>
          <a:xfrm>
            <a:off x="1738179" y="2068934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1791347" y="209550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2198876" y="2081555"/>
            <a:ext cx="49639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Axborot makoni zamonaviy axborotlashgan jamiyatning asosini tashkil etadi.</a:t>
            </a:r>
            <a:endParaRPr lang="en-US" sz="1400" b="1" dirty="0"/>
          </a:p>
        </p:txBody>
      </p:sp>
      <p:sp>
        <p:nvSpPr>
          <p:cNvPr id="12" name="Shape 9"/>
          <p:cNvSpPr/>
          <p:nvPr/>
        </p:nvSpPr>
        <p:spPr>
          <a:xfrm>
            <a:off x="1738179" y="3046958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1791347" y="307352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2198876" y="3073524"/>
            <a:ext cx="49639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Turli xil axborot resurslarini yagona tizimga birlashtirish axborot makonini shakllantirishda muhim ahamiyat kasb etadi.</a:t>
            </a:r>
            <a:endParaRPr lang="en-US" sz="1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8111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Axborot makonining asosiy xususiyatlari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37877" y="1921446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Integrallashganlik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227957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Axborot makoni turli xil axborot resurslarini birlashtirib, yagona tizimni vujudga keltiradi.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070101" y="1921446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Dinamiklik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2227957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Axborot makoni doimiy ravishda yangilanib, rivojlanib boradi.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7877" y="3333676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Universallik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640187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Axborot makoni barcha sohalar uchun umumiy bo'lgan umumiy axborot muhitidir.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070101" y="3333676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Xavfsizlik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070101" y="3640187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Axborot makonida axborot xavfsizligi muhim masala hisoblanadi.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71054"/>
            <a:ext cx="4722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Axborot makonining tuzilishi va tarkibiy qismlari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350838" y="1697162"/>
            <a:ext cx="386804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Ma'lumotlar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50838" y="1997571"/>
            <a:ext cx="38680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Axborot makoni tarkibidagi asosiy komponent - turli xil ma'lumotlar va ma'lumot resurslari.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350838" y="2763143"/>
            <a:ext cx="386804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Tarmoqlar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350838" y="3063553"/>
            <a:ext cx="38680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Ma'lumotlarni uzatish va aloqa o'rnatish uchun Internet va boshqa tarmoqlar.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350838" y="3829124"/>
            <a:ext cx="386804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Texnik vositalar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350838" y="4129534"/>
            <a:ext cx="38680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Axborotni qayta ishlash, saqlash va uzatish uchun turli qurilmalar.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56605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Axborot makonida axborot almashinuvining xususiyatlari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96119" y="1840185"/>
            <a:ext cx="4722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Barqarorlik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96119" y="2099146"/>
            <a:ext cx="47227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Axborot makonidagi axborot almashinuvi barqaror va uzluksiz bo'lishi lozim.</a:t>
            </a:r>
            <a:endParaRPr lang="en-US" sz="950" dirty="0"/>
          </a:p>
        </p:txBody>
      </p:sp>
      <p:sp>
        <p:nvSpPr>
          <p:cNvPr id="8" name="Text 3"/>
          <p:cNvSpPr/>
          <p:nvPr/>
        </p:nvSpPr>
        <p:spPr>
          <a:xfrm>
            <a:off x="496119" y="2947988"/>
            <a:ext cx="4722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Tezkorlik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96119" y="3206948"/>
            <a:ext cx="47227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Axborot almashinuvi tez amalga oshirilishi va yuqori tezlikda amalga oshirilishi kerak.</a:t>
            </a: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496119" y="4055790"/>
            <a:ext cx="4722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Xavfsizlik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96119" y="4314751"/>
            <a:ext cx="4722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Axborot almashinuvida axborotning himoyalanishi va konfidensialligini ta'minlash muhim.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5697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Axborot makonining rivojlanish tendensiyalari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1346671" y="1697310"/>
            <a:ext cx="38722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Katta ma'lumotlar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346671" y="2003822"/>
            <a:ext cx="38722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Axborot makonida katta hajmdagi ma'lumotlarni qayta ishlash va tahlil qilish dolzarb masala.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1346671" y="2740968"/>
            <a:ext cx="38722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Sun'iy intellekt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1346671" y="3047479"/>
            <a:ext cx="38722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Sun'iy intellektning taraqqiy etishi axborot makonidagi qarorlar qabul qilish jarayonini yaxshilaydi.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1346671" y="3784625"/>
            <a:ext cx="38722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Narsalar Interneti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1346671" y="4091136"/>
            <a:ext cx="38722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Narsalar Interneti axborot makonini yanada integrallashgan va mukammal tarzda rivojlantiradi.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62260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Axborot makonidan samarali foydalanish masalalari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066877" y="2145581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Axborot muloqoti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452092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Axborot makonida axborot almashinuvi jarayonini tashkil etish va samarali boshqarish.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99101" y="2145581"/>
            <a:ext cx="20070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Axborotdan foydalanish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2673548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Axborot resurslaridan samarali foydalanish va ularni qayta ishlash.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066877" y="3779267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Axborot texnologiyalari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4085779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Axborot makonida zamonaviy axborot texnologiyalaridan oqilona foydalanish.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0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3735"/>
            <a:ext cx="4722763" cy="1719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E’tiboringiz</a:t>
            </a:r>
            <a:r>
              <a:rPr lang="en-US" sz="4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40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uchun</a:t>
            </a:r>
            <a:endParaRPr lang="en-US" sz="4000" dirty="0">
              <a:solidFill>
                <a:srgbClr val="76B9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40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rahmat</a:t>
            </a:r>
            <a:r>
              <a:rPr lang="en-US" sz="4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!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Елена">
  <a:themeElements>
    <a:clrScheme name="Елена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16</TotalTime>
  <Words>309</Words>
  <Application>Microsoft Office PowerPoint</Application>
  <PresentationFormat>Экран (16:9)</PresentationFormat>
  <Paragraphs>56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Roboto Slab</vt:lpstr>
      <vt:lpstr>Neue Haas Grotesk Text Pro</vt:lpstr>
      <vt:lpstr>Roboto</vt:lpstr>
      <vt:lpstr>Arial</vt:lpstr>
      <vt:lpstr>Елена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Nodir Qarshiyev</cp:lastModifiedBy>
  <cp:revision>7</cp:revision>
  <dcterms:created xsi:type="dcterms:W3CDTF">2026-08-01T08:42:34Z</dcterms:created>
  <dcterms:modified xsi:type="dcterms:W3CDTF">2026-08-06T08:03:07Z</dcterms:modified>
</cp:coreProperties>
</file>