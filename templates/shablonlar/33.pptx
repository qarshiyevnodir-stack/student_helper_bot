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48" d="100"/>
          <a:sy n="48" d="100"/>
        </p:scale>
        <p:origin x="656" y="5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5622-AAE3-439C-8106-321677C0C2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59DE350-2F53-40BC-A699-B6866EB6F1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2D84EA-EDC8-4E51-9A53-628E26972270}"/>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898F444F-6845-41FE-8C04-EDD4CFA98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D76D8-5D37-4748-B163-DD3849F269F6}"/>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77119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060BF-672D-4B66-947D-59AA406BB7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C419ED-C82E-40A7-B10E-FFB00713A8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490D60-7CD8-4D18-A4A0-25A1C1A492F9}"/>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28E3B4A8-4C4D-405A-BC61-B901CB5A3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5084E-2FB0-477B-A7FD-226099ED2B47}"/>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1750684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75485-4D40-4510-A276-34ADAA367C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C64F43-4EB6-4F32-B2A6-9F8B071E23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FA9039-8A87-4565-9C57-28B3729D19A5}"/>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52FB6A8A-A6BF-4004-999C-1812950F83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92ACF-E21E-4969-8577-6744B1BD7065}"/>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552471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D4A93-3B4B-4914-8420-D2256D94E6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5E5816-F063-42C8-8F78-2DD7F92D3B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2ADC5B-48C6-452F-9C4A-0080B25AB9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E49E2E-5CF0-4003-AE9C-0CECA97F4F92}"/>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6" name="Footer Placeholder 5">
            <a:extLst>
              <a:ext uri="{FF2B5EF4-FFF2-40B4-BE49-F238E27FC236}">
                <a16:creationId xmlns:a16="http://schemas.microsoft.com/office/drawing/2014/main" id="{03AEDC44-71F2-4096-81E6-849F86D537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DB0B33-2ADF-4FC4-B783-C364EAAA7766}"/>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772476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52A0D-0A82-4714-A37C-24E9262CDD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0048B5-7D25-4067-ABCF-435CE67D0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46BCEE-806C-454D-986C-054A37C47C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BB58DA-EADA-42C3-9D50-8320D78F9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0C4055-AA1D-4DC6-9588-8F3326ED90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1A0683-A45F-49F7-8C6C-BC0FEEB18E8D}"/>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8" name="Footer Placeholder 7">
            <a:extLst>
              <a:ext uri="{FF2B5EF4-FFF2-40B4-BE49-F238E27FC236}">
                <a16:creationId xmlns:a16="http://schemas.microsoft.com/office/drawing/2014/main" id="{91D113F3-6EC0-40EB-BFC0-09E6DF2984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054EB5-A24B-46F7-839F-78AD3EAF02F8}"/>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2562658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6F73D-124F-4C8B-A18D-1A282C95B7A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32BC5A-BD95-4E98-A6AA-3A0EE144C648}"/>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4" name="Footer Placeholder 3">
            <a:extLst>
              <a:ext uri="{FF2B5EF4-FFF2-40B4-BE49-F238E27FC236}">
                <a16:creationId xmlns:a16="http://schemas.microsoft.com/office/drawing/2014/main" id="{D471ED63-8ECD-431F-B656-D0D0615E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C2D6E7-27E2-4F13-81B6-2FD43162F456}"/>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2391249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9ED8F7-BC78-4688-90AF-3C7F8DE9356A}"/>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3" name="Footer Placeholder 2">
            <a:extLst>
              <a:ext uri="{FF2B5EF4-FFF2-40B4-BE49-F238E27FC236}">
                <a16:creationId xmlns:a16="http://schemas.microsoft.com/office/drawing/2014/main" id="{1E0801A7-214A-4A1E-898E-D27F9739DE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BFA8B1-15D0-454D-B7E1-F6E5E332B5A9}"/>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1959808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15586-4ACC-4424-A502-6B27E3DE5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5E4C3D-3B68-40BC-A862-DE9A186D7B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897EEF-EE38-458A-8539-BA83735BC6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613F91-8B2E-4187-B50D-7D6E6E67A1A9}"/>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6" name="Footer Placeholder 5">
            <a:extLst>
              <a:ext uri="{FF2B5EF4-FFF2-40B4-BE49-F238E27FC236}">
                <a16:creationId xmlns:a16="http://schemas.microsoft.com/office/drawing/2014/main" id="{0BDF71B9-526B-4EC5-AF0A-299F550E4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DE7190-6FEB-412E-B211-59D459129C5E}"/>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400708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AC695-93BE-4B68-9691-634BFA13C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617D59-88B1-40F4-84DC-1BAEC98D2D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0F203B-D954-461F-97A0-55DF48C8E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F4E36-8200-4924-BDEB-47B624381559}"/>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6" name="Footer Placeholder 5">
            <a:extLst>
              <a:ext uri="{FF2B5EF4-FFF2-40B4-BE49-F238E27FC236}">
                <a16:creationId xmlns:a16="http://schemas.microsoft.com/office/drawing/2014/main" id="{1075D325-1B3B-4282-8A9E-6E41B967BB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926E2D-C0B3-4969-916B-A49CA0CF7E43}"/>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5629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D962-2DD4-4CA0-B991-7074504A63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12E139-6CA0-4ED0-8A30-FACC63901F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C84040-BC35-4484-B0F5-E4646098B32F}"/>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06016CF2-9AE3-4731-A4AF-DF2FEEF01B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7A69AF-60D0-4485-9485-70F93B5770BE}"/>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3340030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E5614F-6487-475A-A202-9B7BF840D6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C0C449-BBC8-4FD5-9223-B9EE011A9C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D5558C-89A3-4B60-9D29-9DA691D867AD}"/>
              </a:ext>
            </a:extLst>
          </p:cNvPr>
          <p:cNvSpPr>
            <a:spLocks noGrp="1"/>
          </p:cNvSpPr>
          <p:nvPr>
            <p:ph type="dt" sz="half" idx="10"/>
          </p:nvPr>
        </p:nvSpPr>
        <p:spPr/>
        <p:txBody>
          <a:body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50B82F28-F102-4140-8978-5FABCC0C8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435A28-DF4B-462D-B083-00DEB8FAF169}"/>
              </a:ext>
            </a:extLst>
          </p:cNvPr>
          <p:cNvSpPr>
            <a:spLocks noGrp="1"/>
          </p:cNvSpPr>
          <p:nvPr>
            <p:ph type="sldNum" sz="quarter" idx="12"/>
          </p:nvPr>
        </p:nvSpPr>
        <p:spPr/>
        <p:txBody>
          <a:bodyPr/>
          <a:lstStyle/>
          <a:p>
            <a:fld id="{2261AB62-398B-48ED-A9D3-CC399D95C3E8}" type="slidenum">
              <a:rPr lang="en-US" smtClean="0"/>
              <a:t>‹#›</a:t>
            </a:fld>
            <a:endParaRPr lang="en-US"/>
          </a:p>
        </p:txBody>
      </p:sp>
    </p:spTree>
    <p:extLst>
      <p:ext uri="{BB962C8B-B14F-4D97-AF65-F5344CB8AC3E}">
        <p14:creationId xmlns:p14="http://schemas.microsoft.com/office/powerpoint/2010/main" val="2882875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75C172-E7B1-4187-9045-7E7490B218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F96191-4431-4710-9930-F77A1ECDC1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FD419F-5BF2-4055-BAF9-144DDE38A1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4A65E0-CF5F-46B5-9EB1-95163061CF05}" type="datetimeFigureOut">
              <a:rPr lang="en-US" smtClean="0"/>
              <a:t>7/29/2026</a:t>
            </a:fld>
            <a:endParaRPr lang="en-US"/>
          </a:p>
        </p:txBody>
      </p:sp>
      <p:sp>
        <p:nvSpPr>
          <p:cNvPr id="5" name="Footer Placeholder 4">
            <a:extLst>
              <a:ext uri="{FF2B5EF4-FFF2-40B4-BE49-F238E27FC236}">
                <a16:creationId xmlns:a16="http://schemas.microsoft.com/office/drawing/2014/main" id="{01146175-EE9A-448A-AB0B-3CFB707BE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C8B5E2A-275A-4B96-BC9F-0FCD68D9A1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61AB62-398B-48ED-A9D3-CC399D95C3E8}" type="slidenum">
              <a:rPr lang="en-US" smtClean="0"/>
              <a:t>‹#›</a:t>
            </a:fld>
            <a:endParaRPr lang="en-US"/>
          </a:p>
        </p:txBody>
      </p:sp>
    </p:spTree>
    <p:extLst>
      <p:ext uri="{BB962C8B-B14F-4D97-AF65-F5344CB8AC3E}">
        <p14:creationId xmlns:p14="http://schemas.microsoft.com/office/powerpoint/2010/main" val="1704287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150;p36">
            <a:extLst>
              <a:ext uri="{FF2B5EF4-FFF2-40B4-BE49-F238E27FC236}">
                <a16:creationId xmlns:a16="http://schemas.microsoft.com/office/drawing/2014/main" id="{02E048A0-D4B1-4E76-A7F5-F1F826FB7781}"/>
              </a:ext>
            </a:extLst>
          </p:cNvPr>
          <p:cNvSpPr txBox="1">
            <a:spLocks noGrp="1"/>
          </p:cNvSpPr>
          <p:nvPr>
            <p:ph type="ctrTitle"/>
          </p:nvPr>
        </p:nvSpPr>
        <p:spPr>
          <a:xfrm>
            <a:off x="709127" y="1257176"/>
            <a:ext cx="10356979" cy="13632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sz="5000" dirty="0">
                <a:latin typeface="Asap" panose="020B0604020202020204" charset="0"/>
              </a:rPr>
              <a:t>Discrete Mathematics</a:t>
            </a:r>
            <a:endParaRPr sz="5000" dirty="0">
              <a:latin typeface="Asap" panose="020B0604020202020204" charset="0"/>
            </a:endParaRPr>
          </a:p>
        </p:txBody>
      </p:sp>
      <p:sp>
        <p:nvSpPr>
          <p:cNvPr id="5" name="Google Shape;3151;p36">
            <a:extLst>
              <a:ext uri="{FF2B5EF4-FFF2-40B4-BE49-F238E27FC236}">
                <a16:creationId xmlns:a16="http://schemas.microsoft.com/office/drawing/2014/main" id="{4A1648D0-5BE3-4C81-9D81-723A331F001A}"/>
              </a:ext>
            </a:extLst>
          </p:cNvPr>
          <p:cNvSpPr txBox="1">
            <a:spLocks noGrp="1"/>
          </p:cNvSpPr>
          <p:nvPr>
            <p:ph type="subTitle" idx="1"/>
          </p:nvPr>
        </p:nvSpPr>
        <p:spPr>
          <a:xfrm>
            <a:off x="830424" y="5756916"/>
            <a:ext cx="7834168"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Here is where your presentation begins</a:t>
            </a:r>
            <a:endParaRPr dirty="0"/>
          </a:p>
        </p:txBody>
      </p:sp>
    </p:spTree>
    <p:extLst>
      <p:ext uri="{BB962C8B-B14F-4D97-AF65-F5344CB8AC3E}">
        <p14:creationId xmlns:p14="http://schemas.microsoft.com/office/powerpoint/2010/main" val="3231453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185;p39">
            <a:extLst>
              <a:ext uri="{FF2B5EF4-FFF2-40B4-BE49-F238E27FC236}">
                <a16:creationId xmlns:a16="http://schemas.microsoft.com/office/drawing/2014/main" id="{60D3643C-DBFF-4FBE-B982-A57C3300842C}"/>
              </a:ext>
            </a:extLst>
          </p:cNvPr>
          <p:cNvSpPr txBox="1">
            <a:spLocks noGrp="1"/>
          </p:cNvSpPr>
          <p:nvPr>
            <p:ph type="title"/>
          </p:nvPr>
        </p:nvSpPr>
        <p:spPr>
          <a:xfrm>
            <a:off x="2634592" y="877912"/>
            <a:ext cx="6490800" cy="1350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latin typeface="Asap" panose="020B0604020202020204" charset="0"/>
              </a:rPr>
              <a:t>Reja</a:t>
            </a:r>
            <a:endParaRPr dirty="0">
              <a:latin typeface="Asap" panose="020B0604020202020204" charset="0"/>
            </a:endParaRPr>
          </a:p>
        </p:txBody>
      </p:sp>
      <p:sp>
        <p:nvSpPr>
          <p:cNvPr id="5" name="Google Shape;3186;p39">
            <a:extLst>
              <a:ext uri="{FF2B5EF4-FFF2-40B4-BE49-F238E27FC236}">
                <a16:creationId xmlns:a16="http://schemas.microsoft.com/office/drawing/2014/main" id="{A7927EC2-44CC-4E26-9CE9-B57ED9AF0213}"/>
              </a:ext>
            </a:extLst>
          </p:cNvPr>
          <p:cNvSpPr txBox="1">
            <a:spLocks/>
          </p:cNvSpPr>
          <p:nvPr/>
        </p:nvSpPr>
        <p:spPr>
          <a:xfrm>
            <a:off x="1326500" y="2726250"/>
            <a:ext cx="10259758" cy="13503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0"/>
              </a:spcBef>
              <a:buFont typeface="+mj-lt"/>
              <a:buAutoNum type="arabicPeriod"/>
            </a:pPr>
            <a:r>
              <a:rPr lang="en-US" dirty="0"/>
              <a:t>This can be the part of the presentation where you introduce yourself, write your email…</a:t>
            </a:r>
          </a:p>
          <a:p>
            <a:pPr marL="514350" indent="-514350">
              <a:spcBef>
                <a:spcPts val="0"/>
              </a:spcBef>
              <a:buFont typeface="+mj-lt"/>
              <a:buAutoNum type="arabicPeriod"/>
            </a:pPr>
            <a:r>
              <a:rPr lang="en-US" dirty="0"/>
              <a:t>This can be the part of the presentation where you introduce yourself, write your email…</a:t>
            </a:r>
          </a:p>
          <a:p>
            <a:pPr marL="514350" indent="-514350">
              <a:spcBef>
                <a:spcPts val="0"/>
              </a:spcBef>
              <a:buFont typeface="+mj-lt"/>
              <a:buAutoNum type="arabicPeriod"/>
            </a:pPr>
            <a:r>
              <a:rPr lang="en-US" dirty="0"/>
              <a:t>This can be the part of the presentation where you introduce yourself, write your email…</a:t>
            </a:r>
          </a:p>
        </p:txBody>
      </p:sp>
    </p:spTree>
    <p:extLst>
      <p:ext uri="{BB962C8B-B14F-4D97-AF65-F5344CB8AC3E}">
        <p14:creationId xmlns:p14="http://schemas.microsoft.com/office/powerpoint/2010/main" val="346254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4784;p55">
            <a:extLst>
              <a:ext uri="{FF2B5EF4-FFF2-40B4-BE49-F238E27FC236}">
                <a16:creationId xmlns:a16="http://schemas.microsoft.com/office/drawing/2014/main" id="{59DAC1F2-6E8B-43C5-A933-F357160D3C1D}"/>
              </a:ext>
            </a:extLst>
          </p:cNvPr>
          <p:cNvPicPr preferRelativeResize="0"/>
          <p:nvPr/>
        </p:nvPicPr>
        <p:blipFill rotWithShape="1">
          <a:blip r:embed="rId3">
            <a:alphaModFix/>
          </a:blip>
          <a:srcRect l="10217" t="17560" r="66093" b="5723"/>
          <a:stretch/>
        </p:blipFill>
        <p:spPr>
          <a:xfrm>
            <a:off x="1898248" y="936545"/>
            <a:ext cx="1868574" cy="3403960"/>
          </a:xfrm>
          <a:prstGeom prst="rect">
            <a:avLst/>
          </a:prstGeom>
          <a:noFill/>
          <a:ln>
            <a:noFill/>
          </a:ln>
        </p:spPr>
      </p:pic>
      <p:sp>
        <p:nvSpPr>
          <p:cNvPr id="5" name="Google Shape;4785;p55">
            <a:extLst>
              <a:ext uri="{FF2B5EF4-FFF2-40B4-BE49-F238E27FC236}">
                <a16:creationId xmlns:a16="http://schemas.microsoft.com/office/drawing/2014/main" id="{C06D1416-5231-4292-88B9-B311C15D152A}"/>
              </a:ext>
            </a:extLst>
          </p:cNvPr>
          <p:cNvSpPr txBox="1">
            <a:spLocks noGrp="1"/>
          </p:cNvSpPr>
          <p:nvPr>
            <p:ph type="title"/>
          </p:nvPr>
        </p:nvSpPr>
        <p:spPr>
          <a:xfrm>
            <a:off x="4105469" y="585210"/>
            <a:ext cx="7816455" cy="15483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4000" b="1" dirty="0">
                <a:latin typeface="Asap" panose="020B0604020202020204" charset="0"/>
              </a:rPr>
              <a:t>Phone mockup</a:t>
            </a:r>
            <a:endParaRPr sz="4000" b="1" dirty="0">
              <a:latin typeface="Asap" panose="020B0604020202020204" charset="0"/>
            </a:endParaRPr>
          </a:p>
        </p:txBody>
      </p:sp>
      <p:sp>
        <p:nvSpPr>
          <p:cNvPr id="6" name="Google Shape;4786;p55">
            <a:extLst>
              <a:ext uri="{FF2B5EF4-FFF2-40B4-BE49-F238E27FC236}">
                <a16:creationId xmlns:a16="http://schemas.microsoft.com/office/drawing/2014/main" id="{541C05D5-8A3C-4452-B2D5-259467FE21D7}"/>
              </a:ext>
            </a:extLst>
          </p:cNvPr>
          <p:cNvSpPr txBox="1">
            <a:spLocks/>
          </p:cNvSpPr>
          <p:nvPr/>
        </p:nvSpPr>
        <p:spPr>
          <a:xfrm>
            <a:off x="4829100" y="2503986"/>
            <a:ext cx="6988651" cy="3225481"/>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ts val="0"/>
              </a:spcBef>
              <a:buFont typeface="Arial" panose="020B0604020202020204" pitchFamily="34" charset="0"/>
              <a:buNone/>
            </a:pPr>
            <a:r>
              <a:rPr lang="en-US" sz="2000" dirty="0">
                <a:latin typeface="Barlow Medium" panose="00000600000000000000" pitchFamily="2" charset="0"/>
              </a:rPr>
              <a:t>You can replace the image on the screen with your own work. Just right-click on it and select “Replace image”</a:t>
            </a:r>
          </a:p>
        </p:txBody>
      </p:sp>
    </p:spTree>
    <p:extLst>
      <p:ext uri="{BB962C8B-B14F-4D97-AF65-F5344CB8AC3E}">
        <p14:creationId xmlns:p14="http://schemas.microsoft.com/office/powerpoint/2010/main" val="28195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4751;p54">
            <a:extLst>
              <a:ext uri="{FF2B5EF4-FFF2-40B4-BE49-F238E27FC236}">
                <a16:creationId xmlns:a16="http://schemas.microsoft.com/office/drawing/2014/main" id="{9A2CDCCE-24FC-4EA1-85E0-3A7239CBB5E1}"/>
              </a:ext>
            </a:extLst>
          </p:cNvPr>
          <p:cNvPicPr preferRelativeResize="0"/>
          <p:nvPr/>
        </p:nvPicPr>
        <p:blipFill>
          <a:blip r:embed="rId3">
            <a:alphaModFix/>
          </a:blip>
          <a:stretch>
            <a:fillRect/>
          </a:stretch>
        </p:blipFill>
        <p:spPr>
          <a:xfrm>
            <a:off x="6922729" y="1971092"/>
            <a:ext cx="3780170" cy="2126348"/>
          </a:xfrm>
          <a:prstGeom prst="rect">
            <a:avLst/>
          </a:prstGeom>
          <a:noFill/>
          <a:ln>
            <a:noFill/>
          </a:ln>
        </p:spPr>
      </p:pic>
      <p:sp>
        <p:nvSpPr>
          <p:cNvPr id="5" name="Google Shape;4752;p54">
            <a:extLst>
              <a:ext uri="{FF2B5EF4-FFF2-40B4-BE49-F238E27FC236}">
                <a16:creationId xmlns:a16="http://schemas.microsoft.com/office/drawing/2014/main" id="{0B4AACCA-1B72-4280-A0F5-193C486AC3EA}"/>
              </a:ext>
            </a:extLst>
          </p:cNvPr>
          <p:cNvSpPr txBox="1">
            <a:spLocks noGrp="1"/>
          </p:cNvSpPr>
          <p:nvPr>
            <p:ph type="title"/>
          </p:nvPr>
        </p:nvSpPr>
        <p:spPr>
          <a:xfrm>
            <a:off x="370390" y="971275"/>
            <a:ext cx="5890451" cy="1572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4000" b="1" dirty="0">
                <a:latin typeface="Asap" panose="020B0604020202020204" charset="0"/>
              </a:rPr>
              <a:t>Computer mockup</a:t>
            </a:r>
            <a:endParaRPr sz="4000" b="1" dirty="0">
              <a:latin typeface="Asap" panose="020B0604020202020204" charset="0"/>
            </a:endParaRPr>
          </a:p>
        </p:txBody>
      </p:sp>
      <p:sp>
        <p:nvSpPr>
          <p:cNvPr id="6" name="Google Shape;4753;p54">
            <a:extLst>
              <a:ext uri="{FF2B5EF4-FFF2-40B4-BE49-F238E27FC236}">
                <a16:creationId xmlns:a16="http://schemas.microsoft.com/office/drawing/2014/main" id="{9BF4793A-D17B-4994-A861-8DC8D0A4B377}"/>
              </a:ext>
            </a:extLst>
          </p:cNvPr>
          <p:cNvSpPr txBox="1">
            <a:spLocks/>
          </p:cNvSpPr>
          <p:nvPr/>
        </p:nvSpPr>
        <p:spPr>
          <a:xfrm>
            <a:off x="713224" y="2543249"/>
            <a:ext cx="5382775" cy="411219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Barlow Medium" panose="00000600000000000000" pitchFamily="2" charset="0"/>
              </a:rPr>
              <a:t>You can replace the image on the screen with your own work. Just right-click on it and select “Replace image”</a:t>
            </a:r>
          </a:p>
        </p:txBody>
      </p:sp>
    </p:spTree>
    <p:extLst>
      <p:ext uri="{BB962C8B-B14F-4D97-AF65-F5344CB8AC3E}">
        <p14:creationId xmlns:p14="http://schemas.microsoft.com/office/powerpoint/2010/main" val="888593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4271;p50">
            <a:extLst>
              <a:ext uri="{FF2B5EF4-FFF2-40B4-BE49-F238E27FC236}">
                <a16:creationId xmlns:a16="http://schemas.microsoft.com/office/drawing/2014/main" id="{EDE892A7-8C0E-4DB9-A4BC-46AF5C0B96F8}"/>
              </a:ext>
            </a:extLst>
          </p:cNvPr>
          <p:cNvPicPr preferRelativeResize="0">
            <a:picLocks/>
          </p:cNvPicPr>
          <p:nvPr/>
        </p:nvPicPr>
        <p:blipFill rotWithShape="1">
          <a:blip r:embed="rId3">
            <a:alphaModFix/>
          </a:blip>
          <a:srcRect l="8677" r="24625"/>
          <a:stretch/>
        </p:blipFill>
        <p:spPr>
          <a:xfrm>
            <a:off x="7685590" y="1198082"/>
            <a:ext cx="3870349" cy="4762880"/>
          </a:xfrm>
          <a:prstGeom prst="rect">
            <a:avLst/>
          </a:prstGeom>
        </p:spPr>
      </p:pic>
      <p:sp>
        <p:nvSpPr>
          <p:cNvPr id="5" name="Google Shape;4272;p50">
            <a:extLst>
              <a:ext uri="{FF2B5EF4-FFF2-40B4-BE49-F238E27FC236}">
                <a16:creationId xmlns:a16="http://schemas.microsoft.com/office/drawing/2014/main" id="{D86E2864-C7C8-4120-8D7B-46D967A079E3}"/>
              </a:ext>
            </a:extLst>
          </p:cNvPr>
          <p:cNvSpPr txBox="1">
            <a:spLocks noGrp="1"/>
          </p:cNvSpPr>
          <p:nvPr>
            <p:ph type="title"/>
          </p:nvPr>
        </p:nvSpPr>
        <p:spPr>
          <a:xfrm>
            <a:off x="713224" y="570131"/>
            <a:ext cx="6972365" cy="21060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4000" b="1" dirty="0">
                <a:latin typeface="Asap" panose="020B0604020202020204" charset="0"/>
              </a:rPr>
              <a:t>A picture always reinforces </a:t>
            </a:r>
            <a:endParaRPr sz="4000" b="1" dirty="0">
              <a:latin typeface="Asap" panose="020B0604020202020204" charset="0"/>
            </a:endParaRPr>
          </a:p>
          <a:p>
            <a:pPr marL="0" lvl="0" indent="0" algn="l" rtl="0">
              <a:lnSpc>
                <a:spcPct val="100000"/>
              </a:lnSpc>
              <a:spcBef>
                <a:spcPts val="0"/>
              </a:spcBef>
              <a:spcAft>
                <a:spcPts val="0"/>
              </a:spcAft>
              <a:buNone/>
            </a:pPr>
            <a:r>
              <a:rPr lang="en" sz="4000" b="1" dirty="0">
                <a:latin typeface="Asap" panose="020B0604020202020204" charset="0"/>
              </a:rPr>
              <a:t>the concept</a:t>
            </a:r>
            <a:endParaRPr sz="4000" b="1" dirty="0">
              <a:latin typeface="Asap" panose="020B0604020202020204" charset="0"/>
            </a:endParaRPr>
          </a:p>
        </p:txBody>
      </p:sp>
      <p:sp>
        <p:nvSpPr>
          <p:cNvPr id="6" name="Google Shape;4273;p50">
            <a:extLst>
              <a:ext uri="{FF2B5EF4-FFF2-40B4-BE49-F238E27FC236}">
                <a16:creationId xmlns:a16="http://schemas.microsoft.com/office/drawing/2014/main" id="{6F682BEE-EAE9-49D9-8C28-3DB59AB896FC}"/>
              </a:ext>
            </a:extLst>
          </p:cNvPr>
          <p:cNvSpPr txBox="1">
            <a:spLocks/>
          </p:cNvSpPr>
          <p:nvPr/>
        </p:nvSpPr>
        <p:spPr>
          <a:xfrm>
            <a:off x="713224" y="2676119"/>
            <a:ext cx="6057965" cy="3817278"/>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Barlow Medium" panose="00000600000000000000" pitchFamily="2" charset="0"/>
              </a:rPr>
              <a:t>Images reveal large amounts of data, so remember: use an image instead of a long text. Your audience will appreciate it</a:t>
            </a:r>
          </a:p>
        </p:txBody>
      </p:sp>
    </p:spTree>
    <p:extLst>
      <p:ext uri="{BB962C8B-B14F-4D97-AF65-F5344CB8AC3E}">
        <p14:creationId xmlns:p14="http://schemas.microsoft.com/office/powerpoint/2010/main" val="1379591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578;p41">
            <a:extLst>
              <a:ext uri="{FF2B5EF4-FFF2-40B4-BE49-F238E27FC236}">
                <a16:creationId xmlns:a16="http://schemas.microsoft.com/office/drawing/2014/main" id="{E94533A2-CB3D-4C08-8F82-5AEA387A9E8D}"/>
              </a:ext>
            </a:extLst>
          </p:cNvPr>
          <p:cNvSpPr txBox="1">
            <a:spLocks noGrp="1"/>
          </p:cNvSpPr>
          <p:nvPr>
            <p:ph type="title"/>
          </p:nvPr>
        </p:nvSpPr>
        <p:spPr>
          <a:xfrm>
            <a:off x="1053296" y="398726"/>
            <a:ext cx="10669489" cy="572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000" b="1" dirty="0">
                <a:latin typeface="Asap" panose="020B0604020202020204" charset="0"/>
              </a:rPr>
              <a:t>Overview of discrete mathematics</a:t>
            </a:r>
            <a:endParaRPr sz="4000" b="1" dirty="0">
              <a:latin typeface="Asap" panose="020B0604020202020204" charset="0"/>
            </a:endParaRPr>
          </a:p>
        </p:txBody>
      </p:sp>
      <p:sp>
        <p:nvSpPr>
          <p:cNvPr id="5" name="Google Shape;3579;p41">
            <a:extLst>
              <a:ext uri="{FF2B5EF4-FFF2-40B4-BE49-F238E27FC236}">
                <a16:creationId xmlns:a16="http://schemas.microsoft.com/office/drawing/2014/main" id="{CBEE2CDC-D691-45FC-BF2B-AA047138DB30}"/>
              </a:ext>
            </a:extLst>
          </p:cNvPr>
          <p:cNvSpPr txBox="1">
            <a:spLocks/>
          </p:cNvSpPr>
          <p:nvPr/>
        </p:nvSpPr>
        <p:spPr>
          <a:xfrm>
            <a:off x="6299807" y="2138122"/>
            <a:ext cx="4325752" cy="194370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Barlow Medium" panose="00000600000000000000" pitchFamily="2" charset="0"/>
              </a:rPr>
              <a:t>Mercury takes a little more than 58 days to complete its rotation, so try to imagine how long days must be there! Since the temperatures are so extreme, albeit not as extreme as on Venus, Mercury has been deemed to be non-habitable for humans</a:t>
            </a:r>
          </a:p>
        </p:txBody>
      </p:sp>
      <p:sp>
        <p:nvSpPr>
          <p:cNvPr id="6" name="Google Shape;3580;p41">
            <a:extLst>
              <a:ext uri="{FF2B5EF4-FFF2-40B4-BE49-F238E27FC236}">
                <a16:creationId xmlns:a16="http://schemas.microsoft.com/office/drawing/2014/main" id="{DB161CD7-6025-48CA-A764-37340DE18BEC}"/>
              </a:ext>
            </a:extLst>
          </p:cNvPr>
          <p:cNvSpPr txBox="1">
            <a:spLocks/>
          </p:cNvSpPr>
          <p:nvPr/>
        </p:nvSpPr>
        <p:spPr>
          <a:xfrm>
            <a:off x="1271259" y="2138122"/>
            <a:ext cx="4325752" cy="19437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Arial" panose="020B0604020202020204" pitchFamily="34" charset="0"/>
              <a:buNone/>
            </a:pPr>
            <a:r>
              <a:rPr lang="en-US" sz="2000" dirty="0">
                <a:latin typeface="Barlow Medium" panose="00000600000000000000" pitchFamily="2" charset="0"/>
              </a:rPr>
              <a:t>Mercury is the closest planet to the Sun and the smallest one in the entire Solar System. Contrary to popular belief, this planet's name has nothing to do with the liquid metal. Mercury was, instead, named after the famous Roman messenger god Mercurius</a:t>
            </a:r>
          </a:p>
        </p:txBody>
      </p:sp>
    </p:spTree>
    <p:extLst>
      <p:ext uri="{BB962C8B-B14F-4D97-AF65-F5344CB8AC3E}">
        <p14:creationId xmlns:p14="http://schemas.microsoft.com/office/powerpoint/2010/main" val="2274503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782;p44">
            <a:extLst>
              <a:ext uri="{FF2B5EF4-FFF2-40B4-BE49-F238E27FC236}">
                <a16:creationId xmlns:a16="http://schemas.microsoft.com/office/drawing/2014/main" id="{CE486E01-F486-40C6-BA61-8EBBAA696129}"/>
              </a:ext>
            </a:extLst>
          </p:cNvPr>
          <p:cNvSpPr txBox="1">
            <a:spLocks noGrp="1"/>
          </p:cNvSpPr>
          <p:nvPr>
            <p:ph type="title"/>
          </p:nvPr>
        </p:nvSpPr>
        <p:spPr>
          <a:xfrm>
            <a:off x="720000" y="445025"/>
            <a:ext cx="10762086" cy="572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4000" b="1" dirty="0">
                <a:latin typeface="Asap" panose="020B0604020202020204" charset="0"/>
              </a:rPr>
              <a:t>Relations and functions</a:t>
            </a:r>
            <a:endParaRPr sz="4000" b="1" dirty="0">
              <a:latin typeface="Asap" panose="020B0604020202020204" charset="0"/>
            </a:endParaRPr>
          </a:p>
        </p:txBody>
      </p:sp>
      <p:sp>
        <p:nvSpPr>
          <p:cNvPr id="5" name="Google Shape;3783;p44">
            <a:extLst>
              <a:ext uri="{FF2B5EF4-FFF2-40B4-BE49-F238E27FC236}">
                <a16:creationId xmlns:a16="http://schemas.microsoft.com/office/drawing/2014/main" id="{AD6D2CC7-9316-4A57-89BD-82C377501860}"/>
              </a:ext>
            </a:extLst>
          </p:cNvPr>
          <p:cNvSpPr txBox="1">
            <a:spLocks/>
          </p:cNvSpPr>
          <p:nvPr/>
        </p:nvSpPr>
        <p:spPr>
          <a:xfrm>
            <a:off x="1400537" y="3598906"/>
            <a:ext cx="2812648" cy="2292608"/>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Barlow Medium" panose="00000600000000000000" pitchFamily="2" charset="0"/>
              </a:rPr>
              <a:t>Mercury is the closest planet to the Sun and the smallest of them all</a:t>
            </a:r>
          </a:p>
        </p:txBody>
      </p:sp>
      <p:sp>
        <p:nvSpPr>
          <p:cNvPr id="6" name="Google Shape;3784;p44">
            <a:extLst>
              <a:ext uri="{FF2B5EF4-FFF2-40B4-BE49-F238E27FC236}">
                <a16:creationId xmlns:a16="http://schemas.microsoft.com/office/drawing/2014/main" id="{DC7EE559-7703-480A-91C0-8F727796DF43}"/>
              </a:ext>
            </a:extLst>
          </p:cNvPr>
          <p:cNvSpPr txBox="1">
            <a:spLocks/>
          </p:cNvSpPr>
          <p:nvPr/>
        </p:nvSpPr>
        <p:spPr>
          <a:xfrm>
            <a:off x="4815364" y="3598906"/>
            <a:ext cx="2812648" cy="229260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Barlow Medium" panose="00000600000000000000" pitchFamily="2" charset="0"/>
              </a:rPr>
              <a:t>Venus has a beautiful name and is the second planet from the Sun</a:t>
            </a:r>
          </a:p>
        </p:txBody>
      </p:sp>
      <p:sp>
        <p:nvSpPr>
          <p:cNvPr id="7" name="Google Shape;3785;p44">
            <a:extLst>
              <a:ext uri="{FF2B5EF4-FFF2-40B4-BE49-F238E27FC236}">
                <a16:creationId xmlns:a16="http://schemas.microsoft.com/office/drawing/2014/main" id="{32B4F341-6E81-40BB-A195-66048DB056A9}"/>
              </a:ext>
            </a:extLst>
          </p:cNvPr>
          <p:cNvSpPr txBox="1">
            <a:spLocks/>
          </p:cNvSpPr>
          <p:nvPr/>
        </p:nvSpPr>
        <p:spPr>
          <a:xfrm>
            <a:off x="8230191" y="3598906"/>
            <a:ext cx="2812648" cy="229260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Font typeface="Arial" panose="020B0604020202020204" pitchFamily="34" charset="0"/>
              <a:buNone/>
            </a:pPr>
            <a:r>
              <a:rPr lang="en-US" sz="2000" dirty="0">
                <a:latin typeface="Barlow Medium" panose="00000600000000000000" pitchFamily="2" charset="0"/>
              </a:rPr>
              <a:t>Despite being red, Mars is actually a cold place. It’s full of iron oxide dust</a:t>
            </a:r>
          </a:p>
        </p:txBody>
      </p:sp>
    </p:spTree>
    <p:extLst>
      <p:ext uri="{BB962C8B-B14F-4D97-AF65-F5344CB8AC3E}">
        <p14:creationId xmlns:p14="http://schemas.microsoft.com/office/powerpoint/2010/main" val="3878176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Google Shape;3585;p42">
            <a:extLst>
              <a:ext uri="{FF2B5EF4-FFF2-40B4-BE49-F238E27FC236}">
                <a16:creationId xmlns:a16="http://schemas.microsoft.com/office/drawing/2014/main" id="{E49028D3-E829-4DC0-9BB4-B517A48D6367}"/>
              </a:ext>
            </a:extLst>
          </p:cNvPr>
          <p:cNvSpPr txBox="1">
            <a:spLocks noGrp="1"/>
          </p:cNvSpPr>
          <p:nvPr>
            <p:ph type="title"/>
          </p:nvPr>
        </p:nvSpPr>
        <p:spPr>
          <a:xfrm>
            <a:off x="801767" y="1909931"/>
            <a:ext cx="10588466" cy="346450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6600" b="1" dirty="0" err="1">
                <a:latin typeface="Asap" panose="020B0604020202020204" charset="0"/>
              </a:rPr>
              <a:t>E’tiboringiz</a:t>
            </a:r>
            <a:br>
              <a:rPr lang="en-US" sz="6600" b="1" dirty="0">
                <a:latin typeface="Asap" panose="020B0604020202020204" charset="0"/>
              </a:rPr>
            </a:br>
            <a:r>
              <a:rPr lang="en-US" sz="6600" b="1" dirty="0" err="1">
                <a:latin typeface="Asap" panose="020B0604020202020204" charset="0"/>
              </a:rPr>
              <a:t>uchun</a:t>
            </a:r>
            <a:br>
              <a:rPr lang="en-US" sz="6600" b="1" dirty="0">
                <a:latin typeface="Asap" panose="020B0604020202020204" charset="0"/>
              </a:rPr>
            </a:br>
            <a:r>
              <a:rPr lang="en-US" sz="6600" b="1" dirty="0" err="1">
                <a:latin typeface="Asap" panose="020B0604020202020204" charset="0"/>
              </a:rPr>
              <a:t>rahmat</a:t>
            </a:r>
            <a:r>
              <a:rPr lang="en-US" sz="6600" b="1" dirty="0">
                <a:latin typeface="Asap" panose="020B0604020202020204" charset="0"/>
              </a:rPr>
              <a:t>!</a:t>
            </a:r>
          </a:p>
        </p:txBody>
      </p:sp>
    </p:spTree>
    <p:extLst>
      <p:ext uri="{BB962C8B-B14F-4D97-AF65-F5344CB8AC3E}">
        <p14:creationId xmlns:p14="http://schemas.microsoft.com/office/powerpoint/2010/main" val="2090374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293</Words>
  <Application>Microsoft Office PowerPoint</Application>
  <PresentationFormat>Широкоэкранный</PresentationFormat>
  <Paragraphs>21</Paragraphs>
  <Slides>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8</vt:i4>
      </vt:variant>
    </vt:vector>
  </HeadingPairs>
  <TitlesOfParts>
    <vt:vector size="14" baseType="lpstr">
      <vt:lpstr>Arial</vt:lpstr>
      <vt:lpstr>Asap</vt:lpstr>
      <vt:lpstr>Barlow Medium</vt:lpstr>
      <vt:lpstr>Calibri</vt:lpstr>
      <vt:lpstr>Calibri Light</vt:lpstr>
      <vt:lpstr>Office Theme</vt:lpstr>
      <vt:lpstr>Discrete Mathematics</vt:lpstr>
      <vt:lpstr>Reja</vt:lpstr>
      <vt:lpstr>Phone mockup</vt:lpstr>
      <vt:lpstr>Computer mockup</vt:lpstr>
      <vt:lpstr>A picture always reinforces  the concept</vt:lpstr>
      <vt:lpstr>Overview of discrete mathematics</vt:lpstr>
      <vt:lpstr>Relations and functions</vt:lpstr>
      <vt:lpstr>E’tiboringiz uchun rahmat!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Mathematics Bachelor of Arts in Mathematics</dc:title>
  <dc:creator>Nodir</dc:creator>
  <cp:lastModifiedBy>Nodir Qarshiyev</cp:lastModifiedBy>
  <cp:revision>14</cp:revision>
  <dcterms:created xsi:type="dcterms:W3CDTF">2026-07-23T10:41:12Z</dcterms:created>
  <dcterms:modified xsi:type="dcterms:W3CDTF">2026-07-29T12:09:26Z</dcterms:modified>
</cp:coreProperties>
</file>