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88" r:id="rId5"/>
    <p:sldId id="273" r:id="rId6"/>
    <p:sldId id="259" r:id="rId7"/>
    <p:sldId id="282" r:id="rId8"/>
    <p:sldId id="281" r:id="rId9"/>
    <p:sldId id="283" r:id="rId10"/>
    <p:sldId id="277" r:id="rId11"/>
    <p:sldId id="278" r:id="rId1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 autoAdjust="0"/>
  </p:normalViewPr>
  <p:slideViewPr>
    <p:cSldViewPr snapToGrid="0">
      <p:cViewPr>
        <p:scale>
          <a:sx n="67" d="100"/>
          <a:sy n="67" d="100"/>
        </p:scale>
        <p:origin x="572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4002" y="15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075907A4-0A3C-4BAB-AC59-E7F654651BCF}" type="datetime1">
              <a:rPr lang="ru-RU" smtClean="0"/>
              <a:t>29.07.2026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F757874-EF65-4B61-B062-40C932C8129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042CE3C8-C53F-48E7-8745-94C22FE4FB9B}" type="datetime1">
              <a:rPr lang="ru-RU" smtClean="0"/>
              <a:pPr/>
              <a:t>29.07.2026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6937E2AA-278D-0B48-A5DE-00B1FC5BDAF9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6655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6937E2AA-278D-0B48-A5DE-00B1FC5BDAF9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8186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6937E2AA-278D-0B48-A5DE-00B1FC5BDAF9}" type="slidenum">
              <a:rPr lang="ru-RU" noProof="0" smtClean="0"/>
              <a:t>2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23399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6937E2AA-278D-0B48-A5DE-00B1FC5BDAF9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2272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6937E2AA-278D-0B48-A5DE-00B1FC5BDAF9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031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6937E2AA-278D-0B48-A5DE-00B1FC5BDAF9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9163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6937E2AA-278D-0B48-A5DE-00B1FC5BDAF9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6932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6937E2AA-278D-0B48-A5DE-00B1FC5BDAF9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7492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6937E2AA-278D-0B48-A5DE-00B1FC5BDAF9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7830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8">
            <a:extLst>
              <a:ext uri="{FF2B5EF4-FFF2-40B4-BE49-F238E27FC236}">
                <a16:creationId xmlns:a16="http://schemas.microsoft.com/office/drawing/2014/main" id="{D56268A4-B555-72BE-6160-318763ECA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2D44DBA-D665-923B-A38C-C68A9C03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rtlCol="0" anchor="ctr" anchorCtr="0">
            <a:noAutofit/>
          </a:bodyPr>
          <a:lstStyle>
            <a:lvl1pPr algn="ctr">
              <a:defRPr lang="ru-RU" sz="4400"/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Содержимо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38">
            <a:extLst>
              <a:ext uri="{FF2B5EF4-FFF2-40B4-BE49-F238E27FC236}">
                <a16:creationId xmlns:a16="http://schemas.microsoft.com/office/drawing/2014/main" id="{31550E6E-10D6-E75A-F6B1-8800DAC2C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3038" y="1457865"/>
            <a:ext cx="3200400" cy="4580626"/>
          </a:xfrm>
        </p:spPr>
        <p:txBody>
          <a:bodyPr rtlCol="0" anchor="t">
            <a:noAutofit/>
          </a:bodyPr>
          <a:lstStyle>
            <a:lvl1pPr algn="ctr">
              <a:defRPr lang="ru-RU" sz="3600"/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6287" y="1457864"/>
            <a:ext cx="4986068" cy="4580627"/>
          </a:xfrm>
        </p:spPr>
        <p:txBody>
          <a:bodyPr tIns="45720" rtlCol="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400"/>
            </a:lvl1pPr>
            <a:lvl2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ru-RU" sz="2000"/>
            </a:lvl2pPr>
            <a:lvl3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ru-RU" sz="1800"/>
            </a:lvl3pPr>
            <a:lvl4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ru-RU" sz="1600"/>
            </a:lvl4pPr>
            <a:lvl5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ru-RU" sz="160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6D8061D-18C3-4F4F-85EF-561633F58754}" type="datetimeFigureOut">
              <a:rPr lang="ru-RU" noProof="0" smtClean="0"/>
              <a:t>29.07.2026</a:t>
            </a:fld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noProof="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8">
            <a:extLst>
              <a:ext uri="{FF2B5EF4-FFF2-40B4-BE49-F238E27FC236}">
                <a16:creationId xmlns:a16="http://schemas.microsoft.com/office/drawing/2014/main" id="{61F88592-24FD-96EC-ADB3-C0B7682D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8259" y="798653"/>
            <a:ext cx="5166167" cy="5289630"/>
          </a:xfrm>
          <a:solidFill>
            <a:schemeClr val="bg1">
              <a:alpha val="95000"/>
            </a:schemeClr>
          </a:solidFill>
        </p:spPr>
        <p:txBody>
          <a:bodyPr lIns="274320" rIns="274320" rtlCol="0" anchor="ctr">
            <a:noAutofit/>
          </a:bodyPr>
          <a:lstStyle>
            <a:lvl1pPr algn="ctr">
              <a:defRPr lang="ru-RU" sz="4400"/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4424" y="787077"/>
            <a:ext cx="5166167" cy="5289631"/>
          </a:xfrm>
          <a:solidFill>
            <a:schemeClr val="bg1">
              <a:alpha val="95000"/>
            </a:schemeClr>
          </a:solidFill>
        </p:spPr>
        <p:txBody>
          <a:bodyPr rtlCol="0">
            <a:noAutofit/>
          </a:bodyPr>
          <a:lstStyle>
            <a:lvl1pPr marL="342900" indent="-342900" algn="ctr">
              <a:buFont typeface="Arial" panose="020B0604020202020204" pitchFamily="34" charset="0"/>
              <a:buChar char="•"/>
              <a:defRPr lang="ru-RU"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6D8061D-18C3-4F4F-85EF-561633F58754}" type="datetimeFigureOut">
              <a:rPr lang="ru-RU" noProof="0" smtClean="0"/>
              <a:t>29.07.2026</a:t>
            </a:fld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noProof="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13">
            <a:extLst>
              <a:ext uri="{FF2B5EF4-FFF2-40B4-BE49-F238E27FC236}">
                <a16:creationId xmlns:a16="http://schemas.microsoft.com/office/drawing/2014/main" id="{BD017017-3234-8C24-B9FC-80FB1120D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C226FA8-C264-7189-EEA0-526400907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6135" y="1124887"/>
            <a:ext cx="4480560" cy="2352356"/>
          </a:xfrm>
        </p:spPr>
        <p:txBody>
          <a:bodyPr rtlCol="0" anchor="b">
            <a:noAutofit/>
          </a:bodyPr>
          <a:lstStyle>
            <a:lvl1pPr algn="l"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6135" y="3571197"/>
            <a:ext cx="4476967" cy="2123547"/>
          </a:xfrm>
        </p:spPr>
        <p:txBody>
          <a:bodyPr rtlCol="0">
            <a:noAutofit/>
          </a:bodyPr>
          <a:lstStyle>
            <a:lvl1pPr marL="0" indent="0" algn="l">
              <a:buNone/>
              <a:defRPr lang="ru-RU" sz="28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7" name="Рисунок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29545" y="1148037"/>
            <a:ext cx="4365199" cy="4546707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6D8061D-18C3-4F4F-85EF-561633F58754}" type="datetimeFigureOut">
              <a:rPr lang="ru-RU" smtClean="0"/>
              <a:t>29.07.2026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7">
            <a:extLst>
              <a:ext uri="{FF2B5EF4-FFF2-40B4-BE49-F238E27FC236}">
                <a16:creationId xmlns:a16="http://schemas.microsoft.com/office/drawing/2014/main" id="{28B211FD-99D2-B373-669F-6E0F8E5B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4079EDA-1B98-E3C1-23AD-7FB6F39F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6598" y="995425"/>
            <a:ext cx="8958805" cy="1077230"/>
          </a:xfrm>
        </p:spPr>
        <p:txBody>
          <a:bodyPr rtlCol="0" anchor="b" anchorCtr="0">
            <a:noAutofit/>
          </a:bodyPr>
          <a:lstStyle>
            <a:lvl1pPr algn="ctr"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76BDAEBE-3A0C-BBCD-A1F0-E1F1E07000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616599" y="2257061"/>
            <a:ext cx="8958804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ru-RU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ru-RU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ru-RU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ru-RU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6D8061D-18C3-4F4F-85EF-561633F58754}" type="datetimeFigureOut">
              <a:rPr lang="ru-RU" smtClean="0"/>
              <a:t>29.07.2026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+ рисунок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5">
            <a:extLst>
              <a:ext uri="{FF2B5EF4-FFF2-40B4-BE49-F238E27FC236}">
                <a16:creationId xmlns:a16="http://schemas.microsoft.com/office/drawing/2014/main" id="{236F3DDC-7FF8-F6A3-16EA-A01E7F795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Заголовок 33">
            <a:extLst>
              <a:ext uri="{FF2B5EF4-FFF2-40B4-BE49-F238E27FC236}">
                <a16:creationId xmlns:a16="http://schemas.microsoft.com/office/drawing/2014/main" id="{E728EBB2-9164-AC06-6682-9505D88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5924" y="777240"/>
            <a:ext cx="6115497" cy="5303520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937" y="879674"/>
            <a:ext cx="5377406" cy="2550005"/>
          </a:xfrm>
        </p:spPr>
        <p:txBody>
          <a:bodyPr rtlCol="0" anchor="b" anchorCtr="0">
            <a:no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53BA3AA6-E309-C0C7-B2C6-3705384B7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7638" y="3576900"/>
            <a:ext cx="4126635" cy="2233613"/>
          </a:xfrm>
        </p:spPr>
        <p:txBody>
          <a:bodyPr rtlCol="0"/>
          <a:lstStyle>
            <a:lvl1pPr marL="0" indent="0">
              <a:buNone/>
              <a:defRPr lang="ru-RU"/>
            </a:lvl1pPr>
            <a:lvl2pPr marL="457200" indent="0">
              <a:buNone/>
              <a:defRPr lang="ru-RU"/>
            </a:lvl2pPr>
            <a:lvl3pPr marL="914400" indent="0">
              <a:buNone/>
              <a:defRPr lang="ru-RU"/>
            </a:lvl3pPr>
            <a:lvl4pPr marL="1371600" indent="0">
              <a:buNone/>
              <a:defRPr lang="ru-RU"/>
            </a:lvl4pPr>
            <a:lvl5pPr marL="1828800" indent="0">
              <a:buNone/>
              <a:defRPr lang="ru-RU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6D8061D-18C3-4F4F-85EF-561633F58754}" type="datetimeFigureOut">
              <a:rPr lang="ru-RU" smtClean="0"/>
              <a:t>29.07.2026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одержимог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5">
            <a:extLst>
              <a:ext uri="{FF2B5EF4-FFF2-40B4-BE49-F238E27FC236}">
                <a16:creationId xmlns:a16="http://schemas.microsoft.com/office/drawing/2014/main" id="{540E5FCC-3981-FB51-F0ED-B8BAB5C4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BCE2C9E-7BC3-0EB6-EBE4-26EE33A1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57" y="891251"/>
            <a:ext cx="9653286" cy="1158254"/>
          </a:xfrm>
        </p:spPr>
        <p:txBody>
          <a:bodyPr rtlCol="0" anchor="b" anchorCtr="0">
            <a:noAutofit/>
          </a:bodyPr>
          <a:lstStyle>
            <a:lvl1pPr algn="ctr"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6D8061D-18C3-4F4F-85EF-561633F58754}" type="datetimeFigureOut">
              <a:rPr lang="ru-RU" smtClean="0"/>
              <a:t>29.07.2026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CB36301-48E6-AF64-5055-0CCA79474EA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400540" y="2257062"/>
            <a:ext cx="406271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ru-RU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ru-RU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ru-RU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ru-RU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5F973906-E48D-CA3F-3E96-205D2E688D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588311" y="2257061"/>
            <a:ext cx="420315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ru-RU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ru-RU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ru-RU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ru-RU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44">
            <a:extLst>
              <a:ext uri="{FF2B5EF4-FFF2-40B4-BE49-F238E27FC236}">
                <a16:creationId xmlns:a16="http://schemas.microsoft.com/office/drawing/2014/main" id="{07AB38AA-85DC-3DF3-4ED4-B78FB670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F2DD44F-3200-BF06-94F9-C6A07EA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361" y="777240"/>
            <a:ext cx="10007278" cy="1283843"/>
          </a:xfrm>
        </p:spPr>
        <p:txBody>
          <a:bodyPr rtlCol="0" anchor="b" anchorCtr="0">
            <a:noAutofit/>
          </a:bodyPr>
          <a:lstStyle>
            <a:lvl1pPr algn="ctr"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7029" y="2261313"/>
            <a:ext cx="3275746" cy="36533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ru-RU"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ru-RU" sz="180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ru-RU"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ru-RU"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6D8061D-18C3-4F4F-85EF-561633F58754}" type="datetimeFigureOut">
              <a:rPr lang="ru-RU" smtClean="0"/>
              <a:t>29.07.2026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C2AA9CA0-D45C-FE27-D4E4-DD219364E4F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150734" y="2261313"/>
            <a:ext cx="5594236" cy="3653350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ru-RU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ru-RU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ru-RU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ru-RU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8">
            <a:extLst>
              <a:ext uri="{FF2B5EF4-FFF2-40B4-BE49-F238E27FC236}">
                <a16:creationId xmlns:a16="http://schemas.microsoft.com/office/drawing/2014/main" id="{F1219773-33FA-E4F9-4EAE-0764613F6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2817C37-9292-1CF3-6529-DEF717427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1275" y="1134320"/>
            <a:ext cx="4803494" cy="1956122"/>
          </a:xfrm>
        </p:spPr>
        <p:txBody>
          <a:bodyPr rtlCol="0" anchor="b">
            <a:noAutofit/>
          </a:bodyPr>
          <a:lstStyle>
            <a:lvl1pPr algn="l"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1275" y="3418271"/>
            <a:ext cx="4803494" cy="2305409"/>
          </a:xfrm>
        </p:spPr>
        <p:txBody>
          <a:bodyPr rtlCol="0">
            <a:noAutofit/>
          </a:bodyPr>
          <a:lstStyle>
            <a:lvl1pPr marL="0" indent="0" algn="l">
              <a:spcAft>
                <a:spcPts val="1000"/>
              </a:spcAft>
              <a:buNone/>
              <a:defRPr lang="ru-RU" sz="18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E5D7B0DF-23EB-406B-9FAA-0182626A91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8563" y="1146638"/>
            <a:ext cx="4389120" cy="4572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6D8061D-18C3-4F4F-85EF-561633F58754}" type="datetimeFigureOut">
              <a:rPr lang="ru-RU" smtClean="0"/>
              <a:t>29.07.2026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64">
            <a:extLst>
              <a:ext uri="{FF2B5EF4-FFF2-40B4-BE49-F238E27FC236}">
                <a16:creationId xmlns:a16="http://schemas.microsoft.com/office/drawing/2014/main" id="{7C62E1FE-8CAE-1FE1-6A91-DFE7F1D8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219"/>
            <a:ext cx="10389243" cy="1424470"/>
          </a:xfrm>
        </p:spPr>
        <p:txBody>
          <a:bodyPr rtlCol="0" anchor="ctr" anchorCtr="0">
            <a:noAutofit/>
          </a:bodyPr>
          <a:lstStyle>
            <a:lvl1pPr>
              <a:defRPr lang="ru-RU" sz="3600"/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779325"/>
            <a:ext cx="3490732" cy="4297680"/>
          </a:xfrm>
        </p:spPr>
        <p:txBody>
          <a:bodyPr tIns="274320"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ru-RU" sz="1800"/>
            </a:lvl1pPr>
            <a:lvl2pPr marL="228600" indent="0">
              <a:spcBef>
                <a:spcPts val="1000"/>
              </a:spcBef>
              <a:spcAft>
                <a:spcPts val="1000"/>
              </a:spcAft>
              <a:buNone/>
              <a:defRPr lang="ru-RU" sz="1800"/>
            </a:lvl2pPr>
            <a:lvl3pPr marL="685800" indent="0">
              <a:spcBef>
                <a:spcPts val="1000"/>
              </a:spcBef>
              <a:spcAft>
                <a:spcPts val="1000"/>
              </a:spcAft>
              <a:buNone/>
              <a:defRPr lang="ru-RU" sz="1800"/>
            </a:lvl3pPr>
            <a:lvl4pPr marL="1143000" indent="0">
              <a:spcBef>
                <a:spcPts val="1000"/>
              </a:spcBef>
              <a:spcAft>
                <a:spcPts val="1000"/>
              </a:spcAft>
              <a:buNone/>
              <a:defRPr lang="ru-RU" sz="1800"/>
            </a:lvl4pPr>
            <a:lvl5pPr marL="1600200" indent="0">
              <a:spcBef>
                <a:spcPts val="1000"/>
              </a:spcBef>
              <a:spcAft>
                <a:spcPts val="1000"/>
              </a:spcAft>
              <a:buNone/>
              <a:defRPr lang="ru-RU" sz="180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8" name="Местозаполнитель таблицы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02552" y="1779325"/>
            <a:ext cx="6724891" cy="429768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Вставка таблицы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6D8061D-18C3-4F4F-85EF-561633F58754}" type="datetimeFigureOut">
              <a:rPr lang="ru-RU" noProof="0" smtClean="0"/>
              <a:t>29.07.2026</a:t>
            </a:fld>
            <a:endParaRPr lang="ru-RU" noProof="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 содержимог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17">
            <a:extLst>
              <a:ext uri="{FF2B5EF4-FFF2-40B4-BE49-F238E27FC236}">
                <a16:creationId xmlns:a16="http://schemas.microsoft.com/office/drawing/2014/main" id="{32B61A96-5F36-8895-B920-FC12FD76D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774BC39-6D56-474E-28BE-99260516A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070" y="914400"/>
            <a:ext cx="10045861" cy="1146680"/>
          </a:xfrm>
        </p:spPr>
        <p:txBody>
          <a:bodyPr rtlCol="0" anchor="b" anchorCtr="0">
            <a:noAutofit/>
          </a:bodyPr>
          <a:lstStyle>
            <a:lvl1pPr algn="ctr"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23687" y="2288614"/>
            <a:ext cx="5382228" cy="347557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ru-RU" sz="1800"/>
            </a:lvl1pPr>
            <a:lvl2pPr marL="685800">
              <a:spcBef>
                <a:spcPts val="600"/>
              </a:spcBef>
              <a:spcAft>
                <a:spcPts val="600"/>
              </a:spcAft>
              <a:defRPr lang="ru-RU" sz="1800"/>
            </a:lvl2pPr>
            <a:lvl3pPr marL="1143000">
              <a:spcBef>
                <a:spcPts val="600"/>
              </a:spcBef>
              <a:spcAft>
                <a:spcPts val="600"/>
              </a:spcAft>
              <a:defRPr lang="ru-RU" sz="1800"/>
            </a:lvl3pPr>
            <a:lvl4pPr marL="1600200">
              <a:spcBef>
                <a:spcPts val="600"/>
              </a:spcBef>
              <a:spcAft>
                <a:spcPts val="600"/>
              </a:spcAft>
              <a:defRPr lang="ru-RU" sz="1800"/>
            </a:lvl4pPr>
            <a:lvl5pPr marL="2057400">
              <a:spcBef>
                <a:spcPts val="600"/>
              </a:spcBef>
              <a:spcAft>
                <a:spcPts val="600"/>
              </a:spcAft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51790" y="2288614"/>
            <a:ext cx="3108960" cy="3475578"/>
          </a:xfrm>
        </p:spPr>
        <p:txBody>
          <a:bodyPr tIns="91440"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  <a:buNone/>
              <a:defRPr lang="ru-RU"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ru-RU" sz="1800"/>
            </a:lvl2pPr>
            <a:lvl3pPr marL="685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ru-RU"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ru-RU"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6D8061D-18C3-4F4F-85EF-561633F58754}" type="datetimeFigureOut">
              <a:rPr lang="ru-RU" smtClean="0"/>
              <a:t>29.07.2026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64">
            <a:extLst>
              <a:ext uri="{FF2B5EF4-FFF2-40B4-BE49-F238E27FC236}">
                <a16:creationId xmlns:a16="http://schemas.microsoft.com/office/drawing/2014/main" id="{55E792AE-CF37-9DD8-2703-49480775F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3629"/>
            <a:ext cx="10515600" cy="1325563"/>
          </a:xfrm>
        </p:spPr>
        <p:txBody>
          <a:bodyPr rtlCol="0" anchor="b" anchorCtr="0">
            <a:no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Местозаполнитель таблицы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14400" y="1779325"/>
            <a:ext cx="10361676" cy="4297680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6D8061D-18C3-4F4F-85EF-561633F58754}" type="datetimeFigureOut">
              <a:rPr lang="ru-RU" smtClean="0"/>
              <a:t>29.07.2026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3">
            <a:extLst>
              <a:ext uri="{FF2B5EF4-FFF2-40B4-BE49-F238E27FC236}">
                <a16:creationId xmlns:a16="http://schemas.microsoft.com/office/drawing/2014/main" id="{A1BB4149-7987-3EF4-952D-2271B4DD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7B335AD-7A4B-841B-52BC-8FF32D99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99368" y="0"/>
            <a:ext cx="459326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75" y="92597"/>
            <a:ext cx="3905250" cy="3032567"/>
          </a:xfrm>
        </p:spPr>
        <p:txBody>
          <a:bodyPr rtlCol="0" anchor="b">
            <a:noAutofit/>
          </a:bodyPr>
          <a:lstStyle>
            <a:lvl1pPr algn="ctr">
              <a:defRPr lang="ru-RU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A13E19FD-68BB-0F8D-21CF-9E48B80607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3375" y="4004321"/>
            <a:ext cx="3905250" cy="27432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1800"/>
            </a:lvl1pPr>
            <a:lvl2pPr marL="457200" indent="0" algn="ctr">
              <a:buNone/>
              <a:defRPr lang="ru-RU"/>
            </a:lvl2pPr>
            <a:lvl3pPr marL="914400" indent="0" algn="ctr">
              <a:buNone/>
              <a:defRPr lang="ru-RU"/>
            </a:lvl3pPr>
            <a:lvl4pPr marL="1371600" indent="0" algn="ctr">
              <a:buNone/>
              <a:defRPr lang="ru-RU"/>
            </a:lvl4pPr>
            <a:lvl5pPr marL="1828800" indent="0" algn="ctr">
              <a:buNone/>
              <a:defRPr lang="ru-RU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>
                    <a:tint val="82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D6D8061D-18C3-4F4F-85EF-561633F58754}" type="datetimeFigureOut">
              <a:rPr lang="ru-RU" smtClean="0"/>
              <a:pPr/>
              <a:t>29.07.2026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>
                <a:solidFill>
                  <a:schemeClr val="tx1">
                    <a:tint val="82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tx1">
                    <a:tint val="82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52" r:id="rId6"/>
    <p:sldLayoutId id="2147483662" r:id="rId7"/>
    <p:sldLayoutId id="2147483663" r:id="rId8"/>
    <p:sldLayoutId id="2147483649" r:id="rId9"/>
    <p:sldLayoutId id="2147483666" r:id="rId10"/>
    <p:sldLayoutId id="2147483664" r:id="rId11"/>
    <p:sldLayoutId id="2147483665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  <a:noFill/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rtl="0">
              <a:lnSpc>
                <a:spcPct val="100000"/>
              </a:lnSpc>
            </a:pPr>
            <a:r>
              <a:rPr lang="ru-RU" dirty="0"/>
              <a:t>Базовая презентация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7F6015-011E-A4C3-02DE-EDE46F6A4A51}"/>
              </a:ext>
            </a:extLst>
          </p:cNvPr>
          <p:cNvSpPr txBox="1"/>
          <p:nvPr/>
        </p:nvSpPr>
        <p:spPr>
          <a:xfrm>
            <a:off x="892036" y="5712768"/>
            <a:ext cx="10395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sz="2400" dirty="0"/>
              <a:t>Визуальные средства</a:t>
            </a:r>
          </a:p>
        </p:txBody>
      </p:sp>
    </p:spTree>
    <p:extLst>
      <p:ext uri="{BB962C8B-B14F-4D97-AF65-F5344CB8AC3E}">
        <p14:creationId xmlns:p14="http://schemas.microsoft.com/office/powerpoint/2010/main" val="208302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360" y="1138687"/>
            <a:ext cx="3200400" cy="650356"/>
          </a:xfrm>
          <a:noFill/>
        </p:spPr>
        <p:txBody>
          <a:bodyPr rtlCol="0" anchor="t">
            <a:noAutofit/>
          </a:bodyPr>
          <a:lstStyle>
            <a:defPPr>
              <a:defRPr lang="ru-RU"/>
            </a:defPPr>
          </a:lstStyle>
          <a:p>
            <a:pPr rtl="0"/>
            <a:r>
              <a:rPr lang="en-US" dirty="0" err="1"/>
              <a:t>Reja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2722" y="2277373"/>
            <a:ext cx="9436548" cy="4580627"/>
          </a:xfrm>
          <a:noFill/>
        </p:spPr>
        <p:txBody>
          <a:bodyPr rtlCol="0" anchor="t">
            <a:normAutofit/>
          </a:bodyPr>
          <a:lstStyle>
            <a:defPPr>
              <a:defRPr lang="ru-RU"/>
            </a:defPPr>
          </a:lstStyle>
          <a:p>
            <a:pPr marL="457200" indent="-457200" rtl="0">
              <a:lnSpc>
                <a:spcPct val="100000"/>
              </a:lnSpc>
              <a:buFont typeface="+mj-lt"/>
              <a:buAutoNum type="arabicPeriod"/>
            </a:pPr>
            <a:r>
              <a:rPr lang="ru-RU" dirty="0"/>
              <a:t>Вступление</a:t>
            </a:r>
          </a:p>
          <a:p>
            <a:pPr marL="457200" indent="-457200" rtl="0">
              <a:lnSpc>
                <a:spcPct val="100000"/>
              </a:lnSpc>
              <a:buFont typeface="+mj-lt"/>
              <a:buAutoNum type="arabicPeriod"/>
            </a:pPr>
            <a:r>
              <a:rPr lang="ru-RU" dirty="0"/>
              <a:t>Укрепление уверенности в себе</a:t>
            </a:r>
          </a:p>
          <a:p>
            <a:pPr marL="457200" indent="-457200" rtl="0">
              <a:lnSpc>
                <a:spcPct val="100000"/>
              </a:lnSpc>
              <a:buFont typeface="+mj-lt"/>
              <a:buAutoNum type="arabicPeriod"/>
            </a:pPr>
            <a:r>
              <a:rPr lang="ru-RU" dirty="0"/>
              <a:t>Вовлечение слушателей</a:t>
            </a:r>
          </a:p>
          <a:p>
            <a:pPr marL="457200" indent="-457200" rtl="0">
              <a:lnSpc>
                <a:spcPct val="100000"/>
              </a:lnSpc>
              <a:buFont typeface="+mj-lt"/>
              <a:buAutoNum type="arabicPeriod"/>
            </a:pPr>
            <a:r>
              <a:rPr lang="ru-RU" dirty="0"/>
              <a:t>Визуальные средства</a:t>
            </a:r>
          </a:p>
          <a:p>
            <a:pPr marL="457200" indent="-457200" rtl="0">
              <a:lnSpc>
                <a:spcPct val="100000"/>
              </a:lnSpc>
              <a:buFont typeface="+mj-lt"/>
              <a:buAutoNum type="arabicPeriod"/>
            </a:pPr>
            <a:r>
              <a:rPr lang="ru-RU" dirty="0"/>
              <a:t>Итоговые советы и рекомендации</a:t>
            </a:r>
          </a:p>
        </p:txBody>
      </p:sp>
    </p:spTree>
    <p:extLst>
      <p:ext uri="{BB962C8B-B14F-4D97-AF65-F5344CB8AC3E}">
        <p14:creationId xmlns:p14="http://schemas.microsoft.com/office/powerpoint/2010/main" val="2070817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788" y="896287"/>
            <a:ext cx="4480560" cy="4818712"/>
          </a:xfrm>
          <a:noFill/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Преодоление робости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id="{F4583933-95EE-13B0-55ED-7B10E3D38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9300" y="896287"/>
            <a:ext cx="4476967" cy="481871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000" dirty="0"/>
              <a:t>Стратегии укрепления уверенности в себе</a:t>
            </a:r>
          </a:p>
        </p:txBody>
      </p:sp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8" y="995425"/>
            <a:ext cx="8958805" cy="1077230"/>
          </a:xfrm>
          <a:noFill/>
        </p:spPr>
        <p:txBody>
          <a:bodyPr rtlCol="0"/>
          <a:lstStyle>
            <a:defPPr>
              <a:defRPr lang="ru-RU"/>
            </a:defPPr>
          </a:lstStyle>
          <a:p>
            <a:pPr rtl="0">
              <a:lnSpc>
                <a:spcPct val="100000"/>
              </a:lnSpc>
            </a:pPr>
            <a:r>
              <a:rPr lang="ru-RU" dirty="0"/>
              <a:t>Вовлечение слушателей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616075" y="2257425"/>
            <a:ext cx="8959850" cy="3541713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dirty="0"/>
              <a:t>Встречайтесь взглядами со слушателями, чтобы создать ощущение взаимопонимания и увлечь их</a:t>
            </a: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dirty="0"/>
              <a:t>Вплетайте в презентацию сюжеты, героям которых слушатели могут посочувствовать, От этого ваше сообщение станет запоминающимся и действенным</a:t>
            </a: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dirty="0"/>
              <a:t>Поощряйте вопросы и предоставляйте продуманные ответы, чтобы повысить участие слушателей</a:t>
            </a: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dirty="0"/>
              <a:t>Используйте анкеты или опросы в прямом эфире для сбора мнений слушателей и повышения их вовлеченности, чтобы они ощущали себя непосредственными участниками</a:t>
            </a:r>
          </a:p>
        </p:txBody>
      </p:sp>
    </p:spTree>
    <p:extLst>
      <p:ext uri="{BB962C8B-B14F-4D97-AF65-F5344CB8AC3E}">
        <p14:creationId xmlns:p14="http://schemas.microsoft.com/office/powerpoint/2010/main" val="1667462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357" y="891251"/>
            <a:ext cx="9653286" cy="1158254"/>
          </a:xfrm>
          <a:noFill/>
        </p:spPr>
        <p:txBody>
          <a:bodyPr rtlCol="0"/>
          <a:lstStyle>
            <a:defPPr>
              <a:defRPr lang="ru-RU"/>
            </a:defPPr>
          </a:lstStyle>
          <a:p>
            <a:pPr rtl="0">
              <a:lnSpc>
                <a:spcPct val="100000"/>
              </a:lnSpc>
            </a:pPr>
            <a:r>
              <a:rPr lang="ru-RU" dirty="0"/>
              <a:t>Эффективные методы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400540" y="2257062"/>
            <a:ext cx="4062711" cy="3541853"/>
          </a:xfrm>
          <a:noFill/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Это мощный инструмент для выступлений перед слушателями. Он позволяет менять интонацию, тон и громкость, чтобы выразить чувства, подчеркнуть определенные моменты и удерживать интерес аудитории: </a:t>
            </a:r>
          </a:p>
          <a:p>
            <a:pPr marL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Вариации интонации</a:t>
            </a:r>
          </a:p>
          <a:p>
            <a:pPr marL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Вариации тона</a:t>
            </a:r>
          </a:p>
          <a:p>
            <a:pPr marL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Громкость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588311" y="2257061"/>
            <a:ext cx="4203151" cy="3541853"/>
          </a:xfrm>
          <a:noFill/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Эффективный язык тела улучшает ваше сообщение, делая его более эффектным и запоминающимся:</a:t>
            </a:r>
          </a:p>
          <a:p>
            <a:pPr marL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Осмысленный зрительный контакт</a:t>
            </a:r>
          </a:p>
          <a:p>
            <a:pPr marL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Целенаправленные жесты</a:t>
            </a:r>
          </a:p>
          <a:p>
            <a:pPr marL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Хорошая осанка</a:t>
            </a:r>
          </a:p>
          <a:p>
            <a:pPr marL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Контроль выражения лица</a:t>
            </a:r>
          </a:p>
        </p:txBody>
      </p:sp>
    </p:spTree>
    <p:extLst>
      <p:ext uri="{BB962C8B-B14F-4D97-AF65-F5344CB8AC3E}">
        <p14:creationId xmlns:p14="http://schemas.microsoft.com/office/powerpoint/2010/main" val="1420595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361" y="777240"/>
            <a:ext cx="10007278" cy="1283843"/>
          </a:xfrm>
          <a:noFill/>
        </p:spPr>
        <p:txBody>
          <a:bodyPr rtlCol="0" anchor="b"/>
          <a:lstStyle>
            <a:defPPr>
              <a:defRPr lang="ru-RU"/>
            </a:defPPr>
          </a:lstStyle>
          <a:p>
            <a:pPr rtl="0">
              <a:lnSpc>
                <a:spcPct val="100000"/>
              </a:lnSpc>
            </a:pPr>
            <a:r>
              <a:rPr lang="ru-RU" dirty="0"/>
              <a:t>Навигация по сеансам вопросов и ответов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029" y="2261313"/>
            <a:ext cx="3275746" cy="3653350"/>
          </a:xfrm>
          <a:noFill/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Заранее изучите материал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Заранее подготовьтесь к распространенным вопросам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Отрепетируйте ответы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151438" y="2260600"/>
            <a:ext cx="5592762" cy="3654425"/>
          </a:xfrm>
          <a:noFill/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При ответах на вопросы очень важно сохранять самообладание, чтобы выглядеть уверенно и авторитетно. Здесь могут помочь следующие приемы:</a:t>
            </a:r>
          </a:p>
          <a:p>
            <a:pPr marL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Сохраняйте спокойствие</a:t>
            </a:r>
          </a:p>
          <a:p>
            <a:pPr marL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Активно слушайте</a:t>
            </a:r>
          </a:p>
          <a:p>
            <a:pPr marL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Сделайте паузу на обдумывание</a:t>
            </a:r>
          </a:p>
          <a:p>
            <a:pPr marL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Поддерживайте зрительный контакт</a:t>
            </a:r>
          </a:p>
        </p:txBody>
      </p:sp>
    </p:spTree>
    <p:extLst>
      <p:ext uri="{BB962C8B-B14F-4D97-AF65-F5344CB8AC3E}">
        <p14:creationId xmlns:p14="http://schemas.microsoft.com/office/powerpoint/2010/main" val="305408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1146680"/>
          </a:xfrm>
          <a:noFill/>
        </p:spPr>
        <p:txBody>
          <a:bodyPr rtlCol="0"/>
          <a:lstStyle>
            <a:defPPr>
              <a:defRPr lang="ru-RU"/>
            </a:defPPr>
          </a:lstStyle>
          <a:p>
            <a:pPr rtl="0">
              <a:lnSpc>
                <a:spcPct val="100000"/>
              </a:lnSpc>
            </a:pPr>
            <a:r>
              <a:rPr lang="ru-RU" dirty="0"/>
              <a:t>Итоговые советы и рекомендации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3687" y="2288614"/>
            <a:ext cx="5382228" cy="3475578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algn="just" rtl="0">
              <a:spcBef>
                <a:spcPts val="0"/>
              </a:spcBef>
            </a:pPr>
            <a:r>
              <a:rPr lang="ru-RU" dirty="0"/>
              <a:t>Постоянно репетируйте</a:t>
            </a:r>
          </a:p>
          <a:p>
            <a:pPr marL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Укрепляйте знакомство с предметом</a:t>
            </a:r>
          </a:p>
          <a:p>
            <a:pPr algn="just" rtl="0">
              <a:spcBef>
                <a:spcPts val="0"/>
              </a:spcBef>
            </a:pPr>
            <a:r>
              <a:rPr lang="ru-RU" dirty="0"/>
              <a:t>Работайте над своим искусством оратора</a:t>
            </a:r>
          </a:p>
          <a:p>
            <a:pPr marL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Темп, тон и ударение</a:t>
            </a:r>
          </a:p>
          <a:p>
            <a:pPr algn="just" rtl="0">
              <a:spcBef>
                <a:spcPts val="0"/>
              </a:spcBef>
            </a:pPr>
            <a:r>
              <a:rPr lang="ru-RU" dirty="0"/>
              <a:t>Темп и переход от одного слайда к другому</a:t>
            </a:r>
          </a:p>
          <a:p>
            <a:pPr marL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Стремитесь к беспроблемным, профессиональным выступлениям</a:t>
            </a:r>
          </a:p>
          <a:p>
            <a:pPr algn="just" rtl="0">
              <a:spcBef>
                <a:spcPts val="0"/>
              </a:spcBef>
            </a:pPr>
            <a:r>
              <a:rPr lang="ru-RU" dirty="0"/>
              <a:t>Практикуйтесь перед слушателями</a:t>
            </a:r>
          </a:p>
          <a:p>
            <a:pPr marL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Попросите коллег послушать вас и оценить выступление</a:t>
            </a:r>
          </a:p>
          <a:p>
            <a:pPr marL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1790" y="2288614"/>
            <a:ext cx="3108960" cy="3475578"/>
          </a:xfrm>
          <a:noFill/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Ищите обратную связь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Обдумывайте результаты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Изучайте новые методы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Поставьте личные цели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Повторяйте заново и адаптируйтесь</a:t>
            </a:r>
          </a:p>
        </p:txBody>
      </p:sp>
    </p:spTree>
    <p:extLst>
      <p:ext uri="{BB962C8B-B14F-4D97-AF65-F5344CB8AC3E}">
        <p14:creationId xmlns:p14="http://schemas.microsoft.com/office/powerpoint/2010/main" val="1994246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75" y="1705088"/>
            <a:ext cx="3905250" cy="3032567"/>
          </a:xfrm>
          <a:noFill/>
        </p:spPr>
        <p:txBody>
          <a:bodyPr rtlCol="0" anchor="b"/>
          <a:lstStyle>
            <a:defPPr>
              <a:defRPr lang="ru-RU"/>
            </a:defPPr>
          </a:lstStyle>
          <a:p>
            <a:pPr rtl="0"/>
            <a:r>
              <a:rPr lang="en-US" dirty="0" err="1"/>
              <a:t>E’tiboringiz</a:t>
            </a:r>
            <a:r>
              <a:rPr lang="en-US" dirty="0"/>
              <a:t> </a:t>
            </a:r>
            <a:r>
              <a:rPr lang="en-US" dirty="0" err="1"/>
              <a:t>uchun</a:t>
            </a:r>
            <a:br>
              <a:rPr lang="en-US" dirty="0"/>
            </a:br>
            <a:r>
              <a:rPr lang="en-US" dirty="0" err="1"/>
              <a:t>rahmat</a:t>
            </a:r>
            <a:r>
              <a:rPr lang="en-US" dirty="0"/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1567175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TM10081922">
      <a:dk1>
        <a:srgbClr val="000000"/>
      </a:dk1>
      <a:lt1>
        <a:srgbClr val="FFFFFF"/>
      </a:lt1>
      <a:dk2>
        <a:srgbClr val="435369"/>
      </a:dk2>
      <a:lt2>
        <a:srgbClr val="E7E5E5"/>
      </a:lt2>
      <a:accent1>
        <a:srgbClr val="F2E5D8"/>
      </a:accent1>
      <a:accent2>
        <a:srgbClr val="8C3A27"/>
      </a:accent2>
      <a:accent3>
        <a:srgbClr val="F0C8BC"/>
      </a:accent3>
      <a:accent4>
        <a:srgbClr val="D9A390"/>
      </a:accent4>
      <a:accent5>
        <a:srgbClr val="FFF6F4"/>
      </a:accent5>
      <a:accent6>
        <a:srgbClr val="183F1E"/>
      </a:accent6>
      <a:hlink>
        <a:srgbClr val="467886"/>
      </a:hlink>
      <a:folHlink>
        <a:srgbClr val="96607D"/>
      </a:folHlink>
    </a:clrScheme>
    <a:fontScheme name="Custom 100">
      <a:majorFont>
        <a:latin typeface="Tisa Offc Serif Pro"/>
        <a:ea typeface=""/>
        <a:cs typeface=""/>
      </a:majorFont>
      <a:minorFont>
        <a:latin typeface="Quire Sans Pro Light"/>
        <a:ea typeface=""/>
        <a:cs typeface="Calibri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342553_TF10081922_Win32" id="{29441606-BB2C-42EE-8F91-A2D432901328}" vid="{AC23407B-E7D9-40A2-8B32-5AFBAD60C096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349358-775F-4CF9-9AE6-33A7901637E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F1DBB7-4BA2-49E3-BEC8-A38406CA5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2D96AF-4C9E-4DD0-A165-CD22BB87D09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{100607AA-EFFA-4FF3-90FE-4E7763729DCB}TF96423eb0-8e02-4a99-b83b-bc60d19202d56d54e198_win32-d14eee4b4d4f</Template>
  <TotalTime>10</TotalTime>
  <Words>272</Words>
  <Application>Microsoft Office PowerPoint</Application>
  <PresentationFormat>Широкоэкранный</PresentationFormat>
  <Paragraphs>57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Tisa Offc Serif Pro</vt:lpstr>
      <vt:lpstr>Пользовательская</vt:lpstr>
      <vt:lpstr>Базовая презентация</vt:lpstr>
      <vt:lpstr>Reja</vt:lpstr>
      <vt:lpstr>Преодоление робости </vt:lpstr>
      <vt:lpstr>Вовлечение слушателей</vt:lpstr>
      <vt:lpstr>Эффективные методы презентации</vt:lpstr>
      <vt:lpstr>Навигация по сеансам вопросов и ответов</vt:lpstr>
      <vt:lpstr>Итоговые советы и рекомендации</vt:lpstr>
      <vt:lpstr>E’tiboringiz uchun rahmat!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Базовая презентация</dc:title>
  <dc:creator>Nodir Qarshiyev</dc:creator>
  <cp:lastModifiedBy>Nodir Qarshiyev</cp:lastModifiedBy>
  <cp:revision>3</cp:revision>
  <dcterms:created xsi:type="dcterms:W3CDTF">2026-07-22T05:32:26Z</dcterms:created>
  <dcterms:modified xsi:type="dcterms:W3CDTF">2026-07-29T15:55:07Z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