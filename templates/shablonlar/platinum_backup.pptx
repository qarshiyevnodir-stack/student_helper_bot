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0" r:id="rId1"/>
  </p:sldMasterIdLst>
  <p:notesMasterIdLst>
    <p:notesMasterId r:id="rId10"/>
  </p:notesMasterIdLst>
  <p:sldIdLst>
    <p:sldId id="256" r:id="rId2"/>
    <p:sldId id="267" r:id="rId3"/>
    <p:sldId id="268" r:id="rId4"/>
    <p:sldId id="260" r:id="rId5"/>
    <p:sldId id="261" r:id="rId6"/>
    <p:sldId id="264" r:id="rId7"/>
    <p:sldId id="265" r:id="rId8"/>
    <p:sldId id="263" r:id="rId9"/>
  </p:sldIdLst>
  <p:sldSz cx="9144000" cy="5143500" type="screen16x9"/>
  <p:notesSz cx="5143500" cy="9144000"/>
  <p:embeddedFontLst>
    <p:embeddedFont>
      <p:font typeface="Fraunces ExtraBold" panose="020B0604020202020204" charset="0"/>
      <p:regular r:id="rId11"/>
    </p:embeddedFont>
    <p:embeddedFont>
      <p:font typeface="Neue Haas Grotesk Text Pro" panose="020B0504020202020204" pitchFamily="34" charset="0"/>
      <p:regular r:id="rId12"/>
      <p:bold r:id="rId13"/>
      <p:italic r:id="rId14"/>
      <p:boldItalic r:id="rId15"/>
    </p:embeddedFont>
    <p:embeddedFont>
      <p:font typeface="Nobile" panose="020B0604020202020204" charset="0"/>
      <p:regular r:id="rId16"/>
    </p:embeddedFont>
    <p:embeddedFont>
      <p:font typeface="Unbounded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5449"/>
    <a:srgbClr val="3B4540"/>
    <a:srgbClr val="FAFF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6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4383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482" y="72828"/>
            <a:ext cx="3100768" cy="24989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300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486" y="3369366"/>
            <a:ext cx="2512313" cy="1058517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200" dirty="0"/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80410" y="0"/>
            <a:ext cx="5863590" cy="51435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2484" y="4754028"/>
            <a:ext cx="1647524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787752" y="4754028"/>
            <a:ext cx="1044434" cy="273844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2832186" y="4756726"/>
            <a:ext cx="321905" cy="273844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36113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485" y="1282397"/>
            <a:ext cx="8222742" cy="33853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65072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84792" y="1058519"/>
            <a:ext cx="2916308" cy="213417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300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84791" y="3302279"/>
            <a:ext cx="2916308" cy="84234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200" dirty="0"/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5568204" cy="51435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84791" y="4757967"/>
            <a:ext cx="1575362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25890" y="4757967"/>
            <a:ext cx="1106372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0AE426-CBD1-49BA-A1DA-945CCEE2ED8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2050" y="4757967"/>
            <a:ext cx="321905" cy="273844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55183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486" y="857250"/>
            <a:ext cx="6512815" cy="232136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500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486" y="3374136"/>
            <a:ext cx="5161093" cy="76123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350" dirty="0"/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9486" y="4757967"/>
            <a:ext cx="2104054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66132" y="4757967"/>
            <a:ext cx="2156298" cy="273844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18224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раздел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8" y="1401828"/>
            <a:ext cx="7002782" cy="3680197"/>
          </a:xfrm>
        </p:spPr>
        <p:txBody>
          <a:bodyPr>
            <a:normAutofit/>
          </a:bodyPr>
          <a:lstStyle>
            <a:lvl1pPr>
              <a:defRPr sz="555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9486" y="103041"/>
            <a:ext cx="2104054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0447" y="103041"/>
            <a:ext cx="1651983" cy="273844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60323" y="103041"/>
            <a:ext cx="321905" cy="273844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5614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34" y="78897"/>
            <a:ext cx="6767671" cy="1585044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9485" y="1863191"/>
            <a:ext cx="6350669" cy="2654636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350"/>
            </a:lvl1pPr>
            <a:lvl2pPr marL="514350" indent="-342900">
              <a:buFont typeface="+mj-lt"/>
              <a:buAutoNum type="arabicPeriod"/>
              <a:defRPr sz="1200"/>
            </a:lvl2pPr>
            <a:lvl3pPr marL="600075" indent="-257175">
              <a:buFont typeface="+mj-lt"/>
              <a:buAutoNum type="arabicPeriod"/>
              <a:defRPr sz="1050"/>
            </a:lvl3pPr>
            <a:lvl4pPr marL="771525" indent="-257175">
              <a:buFont typeface="+mj-lt"/>
              <a:buAutoNum type="arabicPeriod"/>
              <a:defRPr sz="1050"/>
            </a:lvl4pPr>
            <a:lvl5pPr marL="942975" indent="-257175">
              <a:buFont typeface="+mj-lt"/>
              <a:buAutoNum type="arabicPeriod"/>
              <a:defRPr sz="105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36196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80758" y="55306"/>
            <a:ext cx="5147622" cy="1665545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3424193" cy="51435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1" y="2044701"/>
            <a:ext cx="4437380" cy="2577592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500"/>
            </a:lvl1pPr>
            <a:lvl2pPr marL="428625" indent="-257175">
              <a:buFont typeface="+mj-lt"/>
              <a:buAutoNum type="arabicPeriod"/>
              <a:defRPr sz="1350"/>
            </a:lvl2pPr>
            <a:lvl3pPr marL="600075" indent="-257175">
              <a:buFont typeface="+mj-lt"/>
              <a:buAutoNum type="arabicPeriod"/>
              <a:defRPr sz="1200"/>
            </a:lvl3pPr>
            <a:lvl4pPr marL="771525" indent="-257175">
              <a:buFont typeface="+mj-lt"/>
              <a:buAutoNum type="arabicPeriod"/>
              <a:defRPr sz="1050"/>
            </a:lvl4pPr>
            <a:lvl5pPr>
              <a:buFont typeface="+mj-lt"/>
              <a:buAutoNum type="arabicPeriod"/>
              <a:defRPr sz="105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0" y="4757967"/>
            <a:ext cx="223905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51915" y="4757967"/>
            <a:ext cx="1164831" cy="273844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60323" y="4757967"/>
            <a:ext cx="321905" cy="273844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66098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09" y="1041525"/>
            <a:ext cx="2942591" cy="306268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67008" y="1041851"/>
            <a:ext cx="4534043" cy="306268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23118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4" y="530662"/>
            <a:ext cx="2512316" cy="204108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875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86151" y="531138"/>
            <a:ext cx="5196077" cy="41361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30994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7009" y="459486"/>
            <a:ext cx="4819792" cy="8572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420341" cy="51435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68027" y="1483866"/>
            <a:ext cx="4814201" cy="321418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67008" y="4757967"/>
            <a:ext cx="2523677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773035" y="4757967"/>
            <a:ext cx="1545606" cy="273844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360323" y="4757967"/>
            <a:ext cx="321905" cy="273844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27461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126" y="355633"/>
            <a:ext cx="5212674" cy="69951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017520" cy="51435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74126" y="1220724"/>
            <a:ext cx="5212674" cy="351466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474126" y="4757967"/>
            <a:ext cx="256718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709275" y="4757967"/>
            <a:ext cx="1613155" cy="273844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360323" y="4757967"/>
            <a:ext cx="321905" cy="273844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04144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5" y="356616"/>
            <a:ext cx="5143500" cy="69951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9485" y="1220724"/>
            <a:ext cx="5143500" cy="34015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59486" y="4760153"/>
            <a:ext cx="2104054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086890" y="4760153"/>
            <a:ext cx="2194190" cy="273844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281081" y="4760153"/>
            <a:ext cx="321905" cy="273844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8800" y="0"/>
            <a:ext cx="3075200" cy="51435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4315307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7" y="315467"/>
            <a:ext cx="3370642" cy="99441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9582" y="1481328"/>
            <a:ext cx="3370547" cy="311771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9582" y="4757967"/>
            <a:ext cx="1573965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10239" y="4757967"/>
            <a:ext cx="1179778" cy="273844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97494" y="4757967"/>
            <a:ext cx="321905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44196" y="0"/>
            <a:ext cx="4899804" cy="51435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9025973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773" y="322326"/>
            <a:ext cx="2743200" cy="125042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1867" y="1736677"/>
            <a:ext cx="2743200" cy="286116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1773" y="4757967"/>
            <a:ext cx="1228003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027585" y="4757967"/>
            <a:ext cx="712325" cy="273844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739910" y="4757967"/>
            <a:ext cx="321905" cy="273844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671316" y="0"/>
            <a:ext cx="5472684" cy="51435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3576218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6046" y="697166"/>
            <a:ext cx="2024441" cy="139420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1875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244742" cy="51435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66791" y="2258501"/>
            <a:ext cx="2020010" cy="199218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171450" indent="0">
              <a:buNone/>
              <a:defRPr lang="en-US" dirty="0"/>
            </a:lvl2pPr>
            <a:lvl3pPr marL="342900" indent="0">
              <a:buNone/>
              <a:defRPr lang="en-US" dirty="0"/>
            </a:lvl3pPr>
            <a:lvl4pPr marL="514350" indent="0">
              <a:buNone/>
              <a:defRPr lang="en-US" dirty="0"/>
            </a:lvl4pPr>
            <a:lvl5pPr marL="685800" indent="0">
              <a:buNone/>
              <a:defRPr lang="en-US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66046" y="4757967"/>
            <a:ext cx="1053345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9392" y="4757967"/>
            <a:ext cx="64093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0AE426-CBD1-49BA-A1DA-945CCEE2ED8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60323" y="4757967"/>
            <a:ext cx="321905" cy="273844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28067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4" y="3121738"/>
            <a:ext cx="2283716" cy="141960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875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9144000" cy="2833703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91778" y="3121739"/>
            <a:ext cx="5595022" cy="156864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171450" indent="0">
              <a:buNone/>
              <a:defRPr lang="en-US" dirty="0"/>
            </a:lvl2pPr>
            <a:lvl3pPr marL="342900" indent="0">
              <a:buNone/>
              <a:defRPr lang="en-US" dirty="0"/>
            </a:lvl3pPr>
            <a:lvl4pPr marL="514350" indent="0">
              <a:buNone/>
              <a:defRPr lang="en-US" dirty="0"/>
            </a:lvl4pPr>
            <a:lvl5pPr marL="685800" indent="0">
              <a:buNone/>
              <a:defRPr lang="en-US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67777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419506"/>
            <a:ext cx="8227315" cy="69951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9486" y="1434299"/>
            <a:ext cx="3477952" cy="315577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59485" y="4757967"/>
            <a:ext cx="1982199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02916" y="1434704"/>
            <a:ext cx="4306494" cy="316825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264947" y="4757967"/>
            <a:ext cx="1087273" cy="273844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352220" y="4757967"/>
            <a:ext cx="332295" cy="273844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77573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530101"/>
            <a:ext cx="3504438" cy="952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0352" y="1630387"/>
            <a:ext cx="3423572" cy="297276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29172" y="549117"/>
            <a:ext cx="4257629" cy="405403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05162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70300"/>
            <a:ext cx="7321551" cy="794855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195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7220" y="363071"/>
            <a:ext cx="7907274" cy="3402106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025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AE426-CBD1-49BA-A1DA-945CCEE2ED8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4985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-850392"/>
            <a:ext cx="7989570" cy="685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4449" y="31751"/>
            <a:ext cx="8637779" cy="462915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171450" indent="0">
              <a:lnSpc>
                <a:spcPct val="90000"/>
              </a:lnSpc>
              <a:buNone/>
              <a:defRPr sz="5400" b="1"/>
            </a:lvl2pPr>
            <a:lvl3pPr marL="342900" indent="0">
              <a:lnSpc>
                <a:spcPct val="90000"/>
              </a:lnSpc>
              <a:buNone/>
              <a:defRPr sz="4950" b="1"/>
            </a:lvl3pPr>
            <a:lvl4pPr marL="514350" indent="0">
              <a:lnSpc>
                <a:spcPct val="90000"/>
              </a:lnSpc>
              <a:buNone/>
              <a:defRPr sz="4500" b="1"/>
            </a:lvl4pPr>
            <a:lvl5pPr marL="685800" indent="0">
              <a:lnSpc>
                <a:spcPct val="90000"/>
              </a:lnSpc>
              <a:buNone/>
              <a:defRPr sz="405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8483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4712" y="3771900"/>
            <a:ext cx="6899148" cy="48006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5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24712" y="891540"/>
            <a:ext cx="6899148" cy="2499360"/>
          </a:xfrm>
        </p:spPr>
        <p:txBody>
          <a:bodyPr anchor="ctr">
            <a:normAutofit/>
          </a:bodyPr>
          <a:lstStyle>
            <a:lvl1pPr marL="123444" indent="-123444">
              <a:lnSpc>
                <a:spcPct val="100000"/>
              </a:lnSpc>
              <a:spcBef>
                <a:spcPts val="0"/>
              </a:spcBef>
              <a:buNone/>
              <a:defRPr sz="36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315078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384048"/>
            <a:ext cx="8055864" cy="72694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9581" y="1369219"/>
            <a:ext cx="380619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08923" y="1369219"/>
            <a:ext cx="3806428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313119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4048"/>
            <a:ext cx="8059341" cy="72694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64301"/>
            <a:ext cx="3806190" cy="41987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200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1790700"/>
            <a:ext cx="3806429" cy="28396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10351" y="1264301"/>
            <a:ext cx="3806190" cy="41987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200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09874" y="1790700"/>
            <a:ext cx="3806667" cy="28396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825837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384048"/>
            <a:ext cx="8222742" cy="72694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527306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605581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" y="67356"/>
            <a:ext cx="8596502" cy="1885950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9581" y="2339068"/>
            <a:ext cx="8222646" cy="1965552"/>
          </a:xfrm>
        </p:spPr>
        <p:txBody>
          <a:bodyPr/>
          <a:lstStyle>
            <a:lvl1pPr marL="0" indent="0">
              <a:buNone/>
              <a:defRPr/>
            </a:lvl1pPr>
            <a:lvl2pPr marL="171450" indent="0">
              <a:buNone/>
              <a:defRPr/>
            </a:lvl2pPr>
            <a:lvl3pPr marL="342900" indent="0">
              <a:buNone/>
              <a:defRPr/>
            </a:lvl3pPr>
            <a:lvl4pPr marL="51435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2147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1220489"/>
            <a:ext cx="6323075" cy="1381515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9582" y="2717006"/>
            <a:ext cx="6322979" cy="1206006"/>
          </a:xfrm>
        </p:spPr>
        <p:txBody>
          <a:bodyPr>
            <a:normAutofit/>
          </a:bodyPr>
          <a:lstStyle>
            <a:lvl1pPr marL="0" indent="0">
              <a:buNone/>
              <a:defRPr sz="1350"/>
            </a:lvl1pPr>
            <a:lvl2pPr marL="171450" indent="0">
              <a:buNone/>
              <a:defRPr sz="1200"/>
            </a:lvl2pPr>
            <a:lvl3pPr marL="342900" indent="0">
              <a:buNone/>
              <a:defRPr sz="1050"/>
            </a:lvl3pPr>
            <a:lvl4pPr marL="514350" indent="0">
              <a:buNone/>
              <a:defRPr sz="1050"/>
            </a:lvl4pPr>
            <a:lvl5pPr marL="685800" indent="0">
              <a:buNone/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8509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3702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7" y="385987"/>
            <a:ext cx="8222741" cy="7292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9485" y="1282397"/>
            <a:ext cx="8222742" cy="33853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9486" y="4757967"/>
            <a:ext cx="21040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670447" y="4757967"/>
            <a:ext cx="165198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/>
                </a:solidFill>
              </a:defRPr>
            </a:lvl1pPr>
          </a:lstStyle>
          <a:p>
            <a:fld id="{710AE426-CBD1-49BA-A1DA-945CCEE2ED8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60323" y="4757967"/>
            <a:ext cx="32190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/>
                </a:solidFill>
              </a:defRPr>
            </a:lvl1pPr>
          </a:lstStyle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206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  <p:sldLayoutId id="2147483700" r:id="rId20"/>
    <p:sldLayoutId id="2147483701" r:id="rId21"/>
    <p:sldLayoutId id="2147483702" r:id="rId22"/>
    <p:sldLayoutId id="2147483703" r:id="rId23"/>
    <p:sldLayoutId id="2147483704" r:id="rId24"/>
    <p:sldLayoutId id="2147483705" r:id="rId25"/>
    <p:sldLayoutId id="2147483706" r:id="rId26"/>
    <p:sldLayoutId id="2147483707" r:id="rId27"/>
    <p:sldLayoutId id="2147483708" r:id="rId28"/>
  </p:sldLayoutIdLst>
  <p:hf sldNum="0" hdr="0" ftr="0" dt="0"/>
  <p:txStyles>
    <p:titleStyle>
      <a:lvl1pPr algn="l" defTabSz="685800" rtl="0" eaLnBrk="1" latinLnBrk="0" hangingPunct="1">
        <a:lnSpc>
          <a:spcPct val="95000"/>
        </a:lnSpc>
        <a:spcBef>
          <a:spcPct val="0"/>
        </a:spcBef>
        <a:buNone/>
        <a:defRPr sz="2100" b="1" kern="1200" spc="-23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125810"/>
            <a:ext cx="4722763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Islomning Mintaqada Tarqalishi: Tarixiy Kengayish va Madaniy Ta'sir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3110359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Islomning VII asrdan boshlab butun dunyoga tarqalishi insoniyat tarixidagi eng ahamiyatli hodisalardan biri bo'ldi. Bu taqdirni o'zgartirgan kengayish nafaqat diniy, balki siyosiy, iqtisodiy va madaniy o'zgarishlarni ham keltirib chiqardi.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62919" y="509289"/>
            <a:ext cx="4722763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400" dirty="0">
                <a:solidFill>
                  <a:srgbClr val="3B4540"/>
                </a:solidFill>
                <a:latin typeface="Fraunces ExtraBold" pitchFamily="34" charset="0"/>
              </a:rPr>
              <a:t>Reja</a:t>
            </a:r>
          </a:p>
        </p:txBody>
      </p:sp>
      <p:sp>
        <p:nvSpPr>
          <p:cNvPr id="6" name="Shape 3"/>
          <p:cNvSpPr/>
          <p:nvPr/>
        </p:nvSpPr>
        <p:spPr>
          <a:xfrm>
            <a:off x="643086" y="1687711"/>
            <a:ext cx="14288" cy="3012058"/>
          </a:xfrm>
          <a:prstGeom prst="roundRect">
            <a:avLst>
              <a:gd name="adj" fmla="val 49998"/>
            </a:avLst>
          </a:prstGeom>
          <a:solidFill>
            <a:srgbClr val="BCDBD4"/>
          </a:solidFill>
          <a:ln/>
        </p:spPr>
        <p:txBody>
          <a:bodyPr/>
          <a:lstStyle/>
          <a:p>
            <a:endParaRPr lang="ru-RU" sz="3200"/>
          </a:p>
        </p:txBody>
      </p:sp>
      <p:sp>
        <p:nvSpPr>
          <p:cNvPr id="7" name="Shape 4"/>
          <p:cNvSpPr/>
          <p:nvPr/>
        </p:nvSpPr>
        <p:spPr>
          <a:xfrm>
            <a:off x="775804" y="1827535"/>
            <a:ext cx="392013" cy="14288"/>
          </a:xfrm>
          <a:prstGeom prst="roundRect">
            <a:avLst>
              <a:gd name="adj" fmla="val 49998"/>
            </a:avLst>
          </a:prstGeom>
          <a:solidFill>
            <a:srgbClr val="BCDBD4"/>
          </a:solidFill>
          <a:ln/>
        </p:spPr>
        <p:txBody>
          <a:bodyPr/>
          <a:lstStyle/>
          <a:p>
            <a:endParaRPr lang="ru-RU" sz="3200"/>
          </a:p>
        </p:txBody>
      </p:sp>
      <p:sp>
        <p:nvSpPr>
          <p:cNvPr id="8" name="Shape 5"/>
          <p:cNvSpPr/>
          <p:nvPr/>
        </p:nvSpPr>
        <p:spPr>
          <a:xfrm>
            <a:off x="496081" y="1687711"/>
            <a:ext cx="294010" cy="294010"/>
          </a:xfrm>
          <a:prstGeom prst="roundRect">
            <a:avLst>
              <a:gd name="adj" fmla="val 18670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ru-RU" sz="3200"/>
          </a:p>
        </p:txBody>
      </p:sp>
      <p:sp>
        <p:nvSpPr>
          <p:cNvPr id="9" name="Text 6"/>
          <p:cNvSpPr/>
          <p:nvPr/>
        </p:nvSpPr>
        <p:spPr>
          <a:xfrm>
            <a:off x="545046" y="1712156"/>
            <a:ext cx="196007" cy="245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3B454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2400" dirty="0">
              <a:solidFill>
                <a:srgbClr val="3B4540"/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775804" y="2590577"/>
            <a:ext cx="392013" cy="14288"/>
          </a:xfrm>
          <a:prstGeom prst="roundRect">
            <a:avLst>
              <a:gd name="adj" fmla="val 49998"/>
            </a:avLst>
          </a:prstGeom>
          <a:solidFill>
            <a:srgbClr val="BCDBD4"/>
          </a:solidFill>
          <a:ln/>
        </p:spPr>
        <p:txBody>
          <a:bodyPr/>
          <a:lstStyle/>
          <a:p>
            <a:endParaRPr lang="ru-RU" sz="3200"/>
          </a:p>
        </p:txBody>
      </p:sp>
      <p:sp>
        <p:nvSpPr>
          <p:cNvPr id="13" name="Shape 10"/>
          <p:cNvSpPr/>
          <p:nvPr/>
        </p:nvSpPr>
        <p:spPr>
          <a:xfrm>
            <a:off x="496081" y="2450753"/>
            <a:ext cx="294010" cy="294010"/>
          </a:xfrm>
          <a:prstGeom prst="roundRect">
            <a:avLst>
              <a:gd name="adj" fmla="val 18670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ru-RU" sz="3200"/>
          </a:p>
        </p:txBody>
      </p:sp>
      <p:sp>
        <p:nvSpPr>
          <p:cNvPr id="14" name="Text 11"/>
          <p:cNvSpPr/>
          <p:nvPr/>
        </p:nvSpPr>
        <p:spPr>
          <a:xfrm>
            <a:off x="545046" y="2475198"/>
            <a:ext cx="196007" cy="245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3B454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2400" dirty="0">
              <a:solidFill>
                <a:srgbClr val="3B4540"/>
              </a:solidFill>
            </a:endParaRPr>
          </a:p>
        </p:txBody>
      </p:sp>
      <p:sp>
        <p:nvSpPr>
          <p:cNvPr id="17" name="Shape 14"/>
          <p:cNvSpPr/>
          <p:nvPr/>
        </p:nvSpPr>
        <p:spPr>
          <a:xfrm>
            <a:off x="775804" y="3353619"/>
            <a:ext cx="392013" cy="14288"/>
          </a:xfrm>
          <a:prstGeom prst="roundRect">
            <a:avLst>
              <a:gd name="adj" fmla="val 49998"/>
            </a:avLst>
          </a:prstGeom>
          <a:solidFill>
            <a:srgbClr val="BCDBD4"/>
          </a:solidFill>
          <a:ln/>
        </p:spPr>
        <p:txBody>
          <a:bodyPr/>
          <a:lstStyle/>
          <a:p>
            <a:endParaRPr lang="ru-RU" sz="3200"/>
          </a:p>
        </p:txBody>
      </p:sp>
      <p:sp>
        <p:nvSpPr>
          <p:cNvPr id="18" name="Shape 15"/>
          <p:cNvSpPr/>
          <p:nvPr/>
        </p:nvSpPr>
        <p:spPr>
          <a:xfrm>
            <a:off x="496081" y="3213795"/>
            <a:ext cx="294010" cy="294010"/>
          </a:xfrm>
          <a:prstGeom prst="roundRect">
            <a:avLst>
              <a:gd name="adj" fmla="val 18670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ru-RU" sz="3200"/>
          </a:p>
        </p:txBody>
      </p:sp>
      <p:sp>
        <p:nvSpPr>
          <p:cNvPr id="19" name="Text 16"/>
          <p:cNvSpPr/>
          <p:nvPr/>
        </p:nvSpPr>
        <p:spPr>
          <a:xfrm>
            <a:off x="545046" y="3238240"/>
            <a:ext cx="196007" cy="245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3B454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</a:t>
            </a:r>
            <a:endParaRPr lang="en-US" sz="2400" dirty="0">
              <a:solidFill>
                <a:srgbClr val="3B4540"/>
              </a:solidFill>
            </a:endParaRPr>
          </a:p>
        </p:txBody>
      </p:sp>
      <p:sp>
        <p:nvSpPr>
          <p:cNvPr id="22" name="Shape 19"/>
          <p:cNvSpPr/>
          <p:nvPr/>
        </p:nvSpPr>
        <p:spPr>
          <a:xfrm>
            <a:off x="775804" y="4116660"/>
            <a:ext cx="392013" cy="14288"/>
          </a:xfrm>
          <a:prstGeom prst="roundRect">
            <a:avLst>
              <a:gd name="adj" fmla="val 49998"/>
            </a:avLst>
          </a:prstGeom>
          <a:solidFill>
            <a:srgbClr val="BCDBD4"/>
          </a:solidFill>
          <a:ln/>
        </p:spPr>
        <p:txBody>
          <a:bodyPr/>
          <a:lstStyle/>
          <a:p>
            <a:endParaRPr lang="ru-RU" sz="3200"/>
          </a:p>
        </p:txBody>
      </p:sp>
      <p:sp>
        <p:nvSpPr>
          <p:cNvPr id="23" name="Shape 20"/>
          <p:cNvSpPr/>
          <p:nvPr/>
        </p:nvSpPr>
        <p:spPr>
          <a:xfrm>
            <a:off x="496081" y="3976836"/>
            <a:ext cx="294010" cy="294010"/>
          </a:xfrm>
          <a:prstGeom prst="roundRect">
            <a:avLst>
              <a:gd name="adj" fmla="val 18670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ru-RU" sz="3200"/>
          </a:p>
        </p:txBody>
      </p:sp>
      <p:sp>
        <p:nvSpPr>
          <p:cNvPr id="24" name="Text 21"/>
          <p:cNvSpPr/>
          <p:nvPr/>
        </p:nvSpPr>
        <p:spPr>
          <a:xfrm>
            <a:off x="545046" y="4001281"/>
            <a:ext cx="196007" cy="245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3B454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4</a:t>
            </a:r>
            <a:endParaRPr lang="en-US" sz="2400" dirty="0">
              <a:solidFill>
                <a:srgbClr val="3B4540"/>
              </a:solidFill>
            </a:endParaRPr>
          </a:p>
        </p:txBody>
      </p:sp>
      <p:sp>
        <p:nvSpPr>
          <p:cNvPr id="3" name="Text 23">
            <a:extLst>
              <a:ext uri="{FF2B5EF4-FFF2-40B4-BE49-F238E27FC236}">
                <a16:creationId xmlns:a16="http://schemas.microsoft.com/office/drawing/2014/main" id="{CE230813-09F3-354A-8003-A55FDC15C9C7}"/>
              </a:ext>
            </a:extLst>
          </p:cNvPr>
          <p:cNvSpPr/>
          <p:nvPr/>
        </p:nvSpPr>
        <p:spPr>
          <a:xfrm>
            <a:off x="1411375" y="1696916"/>
            <a:ext cx="6956821" cy="552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Anqara jangi — Usmonli sultoni Boyazid Yildirim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ustidan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tarixiy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g'alaba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Anqara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jangi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—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Usmonli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sultoni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Boyazid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Yildirim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ustidan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tarixiy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g'alaba</a:t>
            </a:r>
            <a:endParaRPr lang="en-US" sz="1400" b="1" dirty="0">
              <a:solidFill>
                <a:srgbClr val="3B4540"/>
              </a:solidFill>
              <a:latin typeface="Unbounded Bold" pitchFamily="34" charset="0"/>
            </a:endParaRPr>
          </a:p>
          <a:p>
            <a:pPr marL="0" indent="0" algn="l">
              <a:buNone/>
            </a:pPr>
            <a:endParaRPr lang="en-US" sz="1400" b="1" dirty="0">
              <a:solidFill>
                <a:srgbClr val="405449"/>
              </a:solidFill>
            </a:endParaRPr>
          </a:p>
        </p:txBody>
      </p:sp>
      <p:sp>
        <p:nvSpPr>
          <p:cNvPr id="11" name="Text 23">
            <a:extLst>
              <a:ext uri="{FF2B5EF4-FFF2-40B4-BE49-F238E27FC236}">
                <a16:creationId xmlns:a16="http://schemas.microsoft.com/office/drawing/2014/main" id="{136460FC-748D-2FEA-79F7-E7AE9C554DBD}"/>
              </a:ext>
            </a:extLst>
          </p:cNvPr>
          <p:cNvSpPr/>
          <p:nvPr/>
        </p:nvSpPr>
        <p:spPr>
          <a:xfrm>
            <a:off x="1411375" y="2457072"/>
            <a:ext cx="6956821" cy="552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Anqara jangi —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UsmonlAnqara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jangi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—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Usmonli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sultoni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Boyazid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Yildirim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ustidan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tarixiy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g'alaba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i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sultoni Boyazid Yildirim ustidan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tarixiy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g'alaba</a:t>
            </a:r>
            <a:endParaRPr lang="en-US" sz="1400" b="1" dirty="0">
              <a:solidFill>
                <a:srgbClr val="3B4540"/>
              </a:solidFill>
              <a:latin typeface="Unbounded Bold" pitchFamily="34" charset="0"/>
            </a:endParaRPr>
          </a:p>
        </p:txBody>
      </p:sp>
      <p:sp>
        <p:nvSpPr>
          <p:cNvPr id="21" name="Text 23">
            <a:extLst>
              <a:ext uri="{FF2B5EF4-FFF2-40B4-BE49-F238E27FC236}">
                <a16:creationId xmlns:a16="http://schemas.microsoft.com/office/drawing/2014/main" id="{EAA8260E-9832-AA6F-F258-7DE5EC8E465B}"/>
              </a:ext>
            </a:extLst>
          </p:cNvPr>
          <p:cNvSpPr/>
          <p:nvPr/>
        </p:nvSpPr>
        <p:spPr>
          <a:xfrm>
            <a:off x="1411375" y="3213795"/>
            <a:ext cx="6956821" cy="552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Anqara jangi —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UsmonliAnqara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jangi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—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Usmonli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sultoni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Boyazid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Yildirim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ustidan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tarixiy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g'alaba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 sultoni Boyazid Yildirim ustidan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tarixiy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g'alaba</a:t>
            </a:r>
            <a:endParaRPr lang="en-US" sz="1400" b="1" dirty="0">
              <a:solidFill>
                <a:srgbClr val="3B4540"/>
              </a:solidFill>
              <a:latin typeface="Unbounded Bold" pitchFamily="34" charset="0"/>
            </a:endParaRPr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4F64772E-0D26-9C28-C258-C673D49037B6}"/>
              </a:ext>
            </a:extLst>
          </p:cNvPr>
          <p:cNvSpPr/>
          <p:nvPr/>
        </p:nvSpPr>
        <p:spPr>
          <a:xfrm>
            <a:off x="1411375" y="3983652"/>
            <a:ext cx="6956821" cy="552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Anqara jangi —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Usmonli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sultoAnqara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jangi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—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Usmonli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sultoni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Boyazid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Yildirim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ustidan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tarixiy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g'alaba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ni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Boyazid Yildirim ustidan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tarixiy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g'alaba</a:t>
            </a:r>
            <a:endParaRPr lang="en-US" sz="1400" b="1" dirty="0">
              <a:solidFill>
                <a:srgbClr val="3B4540"/>
              </a:solidFill>
              <a:latin typeface="Unbounded Bold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19" y="53984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3B4540"/>
                </a:solidFill>
                <a:latin typeface="Fraunces ExtraBold" pitchFamily="34" charset="0"/>
              </a:rPr>
              <a:t>Me'moriy meros: </a:t>
            </a:r>
            <a:r>
              <a:rPr lang="en-US" sz="2600" dirty="0" err="1">
                <a:solidFill>
                  <a:srgbClr val="3B4540"/>
                </a:solidFill>
                <a:latin typeface="Fraunces ExtraBold" pitchFamily="34" charset="0"/>
              </a:rPr>
              <a:t>Abadiy</a:t>
            </a:r>
            <a:r>
              <a:rPr lang="en-US" sz="2600" dirty="0">
                <a:solidFill>
                  <a:srgbClr val="3B4540"/>
                </a:solidFill>
                <a:latin typeface="Fraunces ExtraBold" pitchFamily="34" charset="0"/>
              </a:rPr>
              <a:t> </a:t>
            </a:r>
            <a:r>
              <a:rPr lang="en-US" sz="2600" dirty="0" err="1">
                <a:solidFill>
                  <a:srgbClr val="3B4540"/>
                </a:solidFill>
                <a:latin typeface="Fraunces ExtraBold" pitchFamily="34" charset="0"/>
              </a:rPr>
              <a:t>obidalar</a:t>
            </a:r>
            <a:endParaRPr lang="en-US" sz="2600" dirty="0">
              <a:solidFill>
                <a:srgbClr val="3B4540"/>
              </a:solidFill>
              <a:latin typeface="Fraunces ExtraBold" pitchFamily="3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74552"/>
            <a:ext cx="1104900" cy="6828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2634555"/>
            <a:ext cx="19050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 err="1">
                <a:solidFill>
                  <a:srgbClr val="3B4540"/>
                </a:solidFill>
                <a:latin typeface="Fraunces ExtraBold" pitchFamily="34" charset="0"/>
              </a:rPr>
              <a:t>Go'ri</a:t>
            </a:r>
            <a:r>
              <a:rPr lang="en-US" sz="1300" dirty="0">
                <a:solidFill>
                  <a:srgbClr val="3B4540"/>
                </a:solidFill>
                <a:latin typeface="Fraunces ExtraBold" pitchFamily="34" charset="0"/>
              </a:rPr>
              <a:t> Amir</a:t>
            </a:r>
          </a:p>
        </p:txBody>
      </p:sp>
      <p:sp>
        <p:nvSpPr>
          <p:cNvPr id="7" name="Text 4"/>
          <p:cNvSpPr/>
          <p:nvPr/>
        </p:nvSpPr>
        <p:spPr>
          <a:xfrm>
            <a:off x="496119" y="2941067"/>
            <a:ext cx="190500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</a:rPr>
              <a:t>Amir Temur maqbarasi — Samarqanddagi eng muqaddas ziyoratgoh, noyob me'moriy </a:t>
            </a:r>
            <a:r>
              <a:rPr lang="en-US" sz="1000" dirty="0" err="1">
                <a:solidFill>
                  <a:srgbClr val="405449"/>
                </a:solidFill>
                <a:latin typeface="Nobile" pitchFamily="34" charset="0"/>
              </a:rPr>
              <a:t>shohasara</a:t>
            </a:r>
            <a:r>
              <a:rPr lang="en-US" sz="1000" dirty="0">
                <a:solidFill>
                  <a:srgbClr val="405449"/>
                </a:solidFill>
                <a:latin typeface="Nobile" pitchFamily="34" charset="0"/>
              </a:rPr>
              <a:t>.</a:t>
            </a: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1774552"/>
            <a:ext cx="1104900" cy="68282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578298" y="2634555"/>
            <a:ext cx="190507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1300" dirty="0" err="1">
                <a:solidFill>
                  <a:srgbClr val="3B4540"/>
                </a:solidFill>
                <a:latin typeface="Fraunces ExtraBold" pitchFamily="34" charset="0"/>
              </a:rPr>
              <a:t>Bibixonim</a:t>
            </a:r>
            <a:r>
              <a:rPr lang="en-US" sz="1300" dirty="0">
                <a:solidFill>
                  <a:srgbClr val="3B4540"/>
                </a:solidFill>
                <a:latin typeface="Fraunces ExtraBold" pitchFamily="34" charset="0"/>
              </a:rPr>
              <a:t> </a:t>
            </a:r>
            <a:r>
              <a:rPr lang="en-US" sz="1300" dirty="0" err="1">
                <a:solidFill>
                  <a:srgbClr val="3B4540"/>
                </a:solidFill>
                <a:latin typeface="Fraunces ExtraBold" pitchFamily="34" charset="0"/>
              </a:rPr>
              <a:t>masjidi</a:t>
            </a:r>
            <a:endParaRPr lang="en-US" sz="1300" dirty="0">
              <a:solidFill>
                <a:srgbClr val="3B4540"/>
              </a:solidFill>
              <a:latin typeface="Fraunces ExtraBold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2578298" y="3162523"/>
            <a:ext cx="190507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</a:rPr>
              <a:t>Amir Temur xotini uchun bunyod etilgan ulkan masjid, o'rta asrlar me'morchiligining </a:t>
            </a:r>
            <a:r>
              <a:rPr lang="en-US" sz="1000" dirty="0" err="1">
                <a:solidFill>
                  <a:srgbClr val="405449"/>
                </a:solidFill>
                <a:latin typeface="Nobile" pitchFamily="34" charset="0"/>
              </a:rPr>
              <a:t>durdonasi</a:t>
            </a:r>
            <a:r>
              <a:rPr lang="en-US" sz="1000" dirty="0">
                <a:solidFill>
                  <a:srgbClr val="405449"/>
                </a:solidFill>
                <a:latin typeface="Nobile" pitchFamily="34" charset="0"/>
              </a:rPr>
              <a:t>.</a:t>
            </a: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1774552"/>
            <a:ext cx="1104900" cy="68282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60553" y="2634555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ct val="104000"/>
              </a:lnSpc>
              <a:buNone/>
            </a:pPr>
            <a:r>
              <a:rPr lang="en-US" sz="1300" dirty="0" err="1">
                <a:solidFill>
                  <a:srgbClr val="3B4540"/>
                </a:solidFill>
                <a:latin typeface="Fraunces ExtraBold" pitchFamily="34" charset="0"/>
              </a:rPr>
              <a:t>Shohi</a:t>
            </a:r>
            <a:r>
              <a:rPr lang="en-US" sz="1300" dirty="0">
                <a:solidFill>
                  <a:srgbClr val="3B4540"/>
                </a:solidFill>
                <a:latin typeface="Fraunces ExtraBold" pitchFamily="34" charset="0"/>
              </a:rPr>
              <a:t> Zinda</a:t>
            </a:r>
          </a:p>
        </p:txBody>
      </p:sp>
      <p:sp>
        <p:nvSpPr>
          <p:cNvPr id="13" name="Text 8"/>
          <p:cNvSpPr/>
          <p:nvPr/>
        </p:nvSpPr>
        <p:spPr>
          <a:xfrm>
            <a:off x="4660553" y="2941067"/>
            <a:ext cx="190507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</a:rPr>
              <a:t>Rang-barang koshinkori naqshlari bilan bezatilgan maqbaralar majmuasi — temuriy san'atining </a:t>
            </a:r>
            <a:r>
              <a:rPr lang="en-US" sz="1000" dirty="0" err="1">
                <a:solidFill>
                  <a:srgbClr val="405449"/>
                </a:solidFill>
                <a:latin typeface="Nobile" pitchFamily="34" charset="0"/>
              </a:rPr>
              <a:t>cho'qqisi</a:t>
            </a:r>
            <a:r>
              <a:rPr lang="en-US" sz="1000" dirty="0">
                <a:solidFill>
                  <a:srgbClr val="405449"/>
                </a:solidFill>
                <a:latin typeface="Nobile" pitchFamily="34" charset="0"/>
              </a:rPr>
              <a:t>.</a:t>
            </a: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1774552"/>
            <a:ext cx="1104900" cy="68282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42807" y="2634555"/>
            <a:ext cx="190507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1300" dirty="0">
                <a:solidFill>
                  <a:srgbClr val="3B4540"/>
                </a:solidFill>
                <a:latin typeface="Fraunces ExtraBold" pitchFamily="34" charset="0"/>
              </a:rPr>
              <a:t>Ahmad </a:t>
            </a:r>
            <a:r>
              <a:rPr lang="en-US" sz="1300" dirty="0" err="1">
                <a:solidFill>
                  <a:srgbClr val="3B4540"/>
                </a:solidFill>
                <a:latin typeface="Fraunces ExtraBold" pitchFamily="34" charset="0"/>
              </a:rPr>
              <a:t>Yassaviy</a:t>
            </a:r>
            <a:r>
              <a:rPr lang="en-US" sz="1300" dirty="0">
                <a:solidFill>
                  <a:srgbClr val="3B4540"/>
                </a:solidFill>
                <a:latin typeface="Fraunces ExtraBold" pitchFamily="34" charset="0"/>
              </a:rPr>
              <a:t> </a:t>
            </a:r>
            <a:r>
              <a:rPr lang="en-US" sz="1300" dirty="0" err="1">
                <a:solidFill>
                  <a:srgbClr val="3B4540"/>
                </a:solidFill>
                <a:latin typeface="Fraunces ExtraBold" pitchFamily="34" charset="0"/>
              </a:rPr>
              <a:t>majmuasi</a:t>
            </a:r>
            <a:endParaRPr lang="en-US" sz="1300" dirty="0">
              <a:solidFill>
                <a:srgbClr val="3B4540"/>
              </a:solidFill>
              <a:latin typeface="Fraunces ExtraBold" pitchFamily="34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6742807" y="3162523"/>
            <a:ext cx="190507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</a:rPr>
              <a:t>Shahrisabz va Turkistondagi bu majmua temuriy me'morchiligining eng ulug'vor namunalaridan </a:t>
            </a:r>
            <a:r>
              <a:rPr lang="en-US" sz="1000" dirty="0" err="1">
                <a:solidFill>
                  <a:srgbClr val="405449"/>
                </a:solidFill>
                <a:latin typeface="Nobile" pitchFamily="34" charset="0"/>
              </a:rPr>
              <a:t>biridir</a:t>
            </a:r>
            <a:r>
              <a:rPr lang="en-US" sz="1000" dirty="0">
                <a:solidFill>
                  <a:srgbClr val="405449"/>
                </a:solidFill>
                <a:latin typeface="Nobile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51136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Uchinchi Bob: Savdo, Ilm-fan va Madaniyat orqali Tarqalish</a:t>
            </a:r>
            <a:endParaRPr lang="en-US" sz="2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127870"/>
            <a:ext cx="425276" cy="4252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730326"/>
            <a:ext cx="259913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Savdogarlar va Sayohatchilar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3258294"/>
            <a:ext cx="259913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Indoneziya, Malayziya, Hindiston yarimoroli kabi hududlarda Islomning tarqalishida savdoning muhim o'rni. Savdo yo'llari orqali yangi mintaqalarga olib kiriladi.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2127870"/>
            <a:ext cx="425276" cy="4252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72433" y="273032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Ilm-fan Markazlari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272433" y="3036838"/>
            <a:ext cx="259913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Bag'dod, Qohira, Kordova kabi shaharlarda ilm-fan va falsafaning rivojlanishi. Ulug' allomalar asrlar davomida insoniyat bilimiga hissa qo'shadi.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8747" y="2127870"/>
            <a:ext cx="425276" cy="4252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8747" y="273032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Temuriylar Uyg'onish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048747" y="3036838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Fors, Markaziy Osiyo va Hindistonda islom madaniyatining yangi bosqichi. Ilm-fan, adabiyot va san'atning yangi davri boshlanadi.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67767"/>
            <a:ext cx="4722763" cy="1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To'rtinchi Bob: Mintaqaviy Imperiyalar va Islomning Davomiy Ta'siri</a:t>
            </a:r>
            <a:endParaRPr lang="en-US" sz="2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1936403"/>
            <a:ext cx="4722763" cy="848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13907" y="2068041"/>
            <a:ext cx="440233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Usmonlilar Imperiyasi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4113907" y="2309738"/>
            <a:ext cx="4402336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Onado'li, Bolqon va Shimoliy Afrikada islomning mustahkamlanishi. 600 yil davom etgan kuchli imperiya islom madaniyatini tarixiy ravishda saqlab qoldi.</a:t>
            </a:r>
            <a:endParaRPr lang="en-US" sz="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2881908"/>
            <a:ext cx="4722763" cy="848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13907" y="3013546"/>
            <a:ext cx="440233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Boburiylar Davlati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4113907" y="3255243"/>
            <a:ext cx="4402336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Hindiston yarimorolida islom madaniyatining keng tarqalishi. Me'morchilik, adabiyot va san'atga noyob hissa qo'shishdi.</a:t>
            </a:r>
            <a:endParaRPr lang="en-US" sz="9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3827413"/>
            <a:ext cx="4722763" cy="848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113907" y="3959051"/>
            <a:ext cx="440233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Markaziy Osiyo Sulolalari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4113907" y="4200748"/>
            <a:ext cx="4402336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Somoniylar, G'aznaviylar, Qoraxoniylar kabi sulolalar islomni rivojlantirishdagi o'rni. Bu mintaqada islom an'anasi mustahkam poydevor topdi.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18840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Oltinchi Bob: Islomning Tarqalishida Muhim Shaxslar va Voqealar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906042"/>
            <a:ext cx="141759" cy="14175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6119" y="2110234"/>
            <a:ext cx="4004965" cy="19050"/>
          </a:xfrm>
          <a:prstGeom prst="rect">
            <a:avLst/>
          </a:prstGeom>
          <a:solidFill>
            <a:srgbClr val="43895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496119" y="2219176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Muhammad Payg'ambar (s.a.v.)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525688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Islomni tabiiy ravishda kishilarga o'rgatdi va uning sahobalarining da'vati butun dunyoga ta'sir ko'rsatdi.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2842" y="1906042"/>
            <a:ext cx="141759" cy="141759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642842" y="2110234"/>
            <a:ext cx="4005039" cy="19050"/>
          </a:xfrm>
          <a:prstGeom prst="rect">
            <a:avLst/>
          </a:prstGeom>
          <a:solidFill>
            <a:srgbClr val="43895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5"/>
          <p:cNvSpPr/>
          <p:nvPr/>
        </p:nvSpPr>
        <p:spPr>
          <a:xfrm>
            <a:off x="4642842" y="2219176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Qahramon Sardorlar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642842" y="2525688"/>
            <a:ext cx="400503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Xolid ibn Valid, Amr ibn al-Os kabi sarkardalar va ularning istilolardagi roli. Harbiy qobiliyat va strategiya.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245048"/>
            <a:ext cx="141759" cy="141759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96119" y="3449241"/>
            <a:ext cx="4004965" cy="19050"/>
          </a:xfrm>
          <a:prstGeom prst="rect">
            <a:avLst/>
          </a:prstGeom>
          <a:solidFill>
            <a:srgbClr val="43895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8"/>
          <p:cNvSpPr/>
          <p:nvPr/>
        </p:nvSpPr>
        <p:spPr>
          <a:xfrm>
            <a:off x="496119" y="3558183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Ulug' Allomalar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96119" y="3864694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Imom al-Buxoriy, Imom Termiziy kabi allomalar va ularning islom ilmining rivojiga qo'shgan hissasi.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2842" y="3245048"/>
            <a:ext cx="141759" cy="141759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642842" y="3449241"/>
            <a:ext cx="4005039" cy="19050"/>
          </a:xfrm>
          <a:prstGeom prst="rect">
            <a:avLst/>
          </a:prstGeom>
          <a:solidFill>
            <a:srgbClr val="43895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1"/>
          <p:cNvSpPr/>
          <p:nvPr/>
        </p:nvSpPr>
        <p:spPr>
          <a:xfrm>
            <a:off x="4642842" y="3558183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Savdogarlar va Sayyohlar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642842" y="3864694"/>
            <a:ext cx="400503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Islomning qabul qilinishida savdogarlar, olimlar va sayohatchilarning muhim o'rni.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18430"/>
            <a:ext cx="4722763" cy="830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Xulosa: Islomning Mintaqaviy Va Global Ta'siri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3925119" y="1435894"/>
            <a:ext cx="2299097" cy="1372121"/>
          </a:xfrm>
          <a:prstGeom prst="roundRect">
            <a:avLst>
              <a:gd name="adj" fmla="val 8718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4058022" y="1568797"/>
            <a:ext cx="2033290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Madaniy Sivilizatsiya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058022" y="1851199"/>
            <a:ext cx="2033290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Islom nafaqat din, balki boy madaniyat, ilm-fan va sivilizatsiyaning asosiga aylangan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348785" y="1435894"/>
            <a:ext cx="2299097" cy="1372121"/>
          </a:xfrm>
          <a:prstGeom prst="roundRect">
            <a:avLst>
              <a:gd name="adj" fmla="val 8718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6481688" y="1568797"/>
            <a:ext cx="2033290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Moslashuvchanlik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81688" y="1851199"/>
            <a:ext cx="2033290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Tarixiy jarayonlar davomida Islom turli xalqlar va hududlarga moslashib, o'ziga xosliklarni saqlab qolgan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925119" y="2932584"/>
            <a:ext cx="4722763" cy="960165"/>
          </a:xfrm>
          <a:prstGeom prst="roundRect">
            <a:avLst>
              <a:gd name="adj" fmla="val 12458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4058022" y="3065487"/>
            <a:ext cx="4456956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Birlashish Kuchi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058022" y="3347889"/>
            <a:ext cx="4456956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Bugungi kunda ham Islom dunyo aholisining katta qismini birlashtiruvchi kuch bo'lib qolmoqda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925119" y="4032870"/>
            <a:ext cx="14288" cy="692200"/>
          </a:xfrm>
          <a:prstGeom prst="roundRect">
            <a:avLst>
              <a:gd name="adj" fmla="val 59998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4124474" y="4172992"/>
            <a:ext cx="4523408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i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Islom tarqalishi - bu nafaqat geografik kengayish, balki insoniyat tarixidagi eng katta madaniy almashinuv jarayonining boshlanishi edi.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182862"/>
            <a:ext cx="4722763" cy="1619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sz="2800" dirty="0" err="1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E’tiboringiz</a:t>
            </a:r>
            <a:r>
              <a:rPr lang="en-US" sz="28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</a:t>
            </a:r>
            <a:r>
              <a:rPr lang="en-US" sz="2800" dirty="0" err="1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uchun</a:t>
            </a:r>
            <a:r>
              <a:rPr lang="en-US" sz="28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</a:t>
            </a:r>
            <a:r>
              <a:rPr lang="en-US" sz="2800" dirty="0" err="1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rahmat</a:t>
            </a:r>
            <a:r>
              <a:rPr lang="en-US" sz="28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!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Елена">
  <a:themeElements>
    <a:clrScheme name="Елена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80</TotalTime>
  <Words>512</Words>
  <Application>Microsoft Office PowerPoint</Application>
  <PresentationFormat>Экран (16:9)</PresentationFormat>
  <Paragraphs>60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Fraunces ExtraBold</vt:lpstr>
      <vt:lpstr>Nobile</vt:lpstr>
      <vt:lpstr>Arial</vt:lpstr>
      <vt:lpstr>Unbounded Bold</vt:lpstr>
      <vt:lpstr>Neue Haas Grotesk Text Pro</vt:lpstr>
      <vt:lpstr>Елена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Nodir Qarshiyev</dc:creator>
  <cp:lastModifiedBy>Nodir Qarshiyev</cp:lastModifiedBy>
  <cp:revision>22</cp:revision>
  <dcterms:created xsi:type="dcterms:W3CDTF">2026-07-24T04:56:42Z</dcterms:created>
  <dcterms:modified xsi:type="dcterms:W3CDTF">2026-08-01T12:50:06Z</dcterms:modified>
</cp:coreProperties>
</file>